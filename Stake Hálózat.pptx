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73" r:id="rId6"/>
    <p:sldId id="271" r:id="rId7"/>
    <p:sldId id="257" r:id="rId8"/>
    <p:sldId id="259" r:id="rId9"/>
    <p:sldId id="260" r:id="rId10"/>
    <p:sldId id="261" r:id="rId11"/>
    <p:sldId id="276" r:id="rId12"/>
    <p:sldId id="277" r:id="rId13"/>
    <p:sldId id="263" r:id="rId14"/>
    <p:sldId id="274" r:id="rId15"/>
    <p:sldId id="275" r:id="rId16"/>
    <p:sldId id="266" r:id="rId17"/>
    <p:sldId id="264"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2CD1BF-B99A-8D10-784B-F5CFAF1DDE84}" v="4" dt="2026-02-27T10:04:57.0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err="1"/>
              <a:t>Projektel</a:t>
            </a:r>
            <a:r>
              <a:rPr lang="en-US" baseline="0" dirty="0"/>
              <a:t> </a:t>
            </a:r>
            <a:r>
              <a:rPr lang="en-US" baseline="0" dirty="0" err="1"/>
              <a:t>töltött</a:t>
            </a:r>
            <a:r>
              <a:rPr lang="en-US" baseline="0" dirty="0"/>
              <a:t> </a:t>
            </a:r>
            <a:r>
              <a:rPr lang="en-US" baseline="0" dirty="0" err="1"/>
              <a:t>idő</a:t>
            </a:r>
            <a:r>
              <a:rPr lang="hu-HU" baseline="0" dirty="0"/>
              <a:t> (106 óra)</a:t>
            </a:r>
            <a:endParaRPr lang="en-US" dirty="0"/>
          </a:p>
        </c:rich>
      </c:tx>
      <c:layout>
        <c:manualLayout>
          <c:xMode val="edge"/>
          <c:yMode val="edge"/>
          <c:x val="0.3036926090760394"/>
          <c:y val="2.0430497469973604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hu-HU"/>
        </a:p>
      </c:txPr>
    </c:title>
    <c:autoTitleDeleted val="0"/>
    <c:plotArea>
      <c:layout/>
      <c:pieChart>
        <c:varyColors val="1"/>
        <c:ser>
          <c:idx val="0"/>
          <c:order val="0"/>
          <c:tx>
            <c:strRef>
              <c:f>Munka1!$B$1</c:f>
              <c:strCache>
                <c:ptCount val="1"/>
                <c:pt idx="0">
                  <c:v>Ki mennyi időt töltött el a projekttel?</c:v>
                </c:pt>
              </c:strCache>
            </c:strRef>
          </c:tx>
          <c:explosion val="2"/>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C2FE-4906-81E4-DB8D9D7DC450}"/>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C2FE-4906-81E4-DB8D9D7DC450}"/>
              </c:ext>
            </c:extLst>
          </c:dPt>
          <c:dPt>
            <c:idx val="2"/>
            <c:bubble3D val="0"/>
            <c:explosion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C2FE-4906-81E4-DB8D9D7DC450}"/>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hu-HU"/>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Munka1!$A$2:$A$4</c:f>
              <c:strCache>
                <c:ptCount val="3"/>
                <c:pt idx="0">
                  <c:v>Jani</c:v>
                </c:pt>
                <c:pt idx="1">
                  <c:v>Kristóf</c:v>
                </c:pt>
                <c:pt idx="2">
                  <c:v>Balázs</c:v>
                </c:pt>
              </c:strCache>
            </c:strRef>
          </c:cat>
          <c:val>
            <c:numRef>
              <c:f>Munka1!$B$2:$B$4</c:f>
              <c:numCache>
                <c:formatCode>d\-mmm</c:formatCode>
                <c:ptCount val="3"/>
                <c:pt idx="0" formatCode="General">
                  <c:v>21</c:v>
                </c:pt>
                <c:pt idx="1">
                  <c:v>38</c:v>
                </c:pt>
                <c:pt idx="2">
                  <c:v>47</c:v>
                </c:pt>
              </c:numCache>
            </c:numRef>
          </c:val>
          <c:extLst>
            <c:ext xmlns:c16="http://schemas.microsoft.com/office/drawing/2014/chart" uri="{C3380CC4-5D6E-409C-BE32-E72D297353CC}">
              <c16:uniqueId val="{00000000-406A-44D6-AA08-60570220C34C}"/>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2.0844269466316337E-3"/>
          <c:y val="0.1796256691619911"/>
          <c:w val="0.16095905131423785"/>
          <c:h val="0.67243064087414028"/>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3000" b="0" i="0" u="none" strike="noStrike" kern="1200" baseline="0">
              <a:solidFill>
                <a:schemeClr val="dk1">
                  <a:lumMod val="75000"/>
                  <a:lumOff val="25000"/>
                </a:schemeClr>
              </a:solidFill>
              <a:latin typeface="+mn-lt"/>
              <a:ea typeface="+mn-ea"/>
              <a:cs typeface="+mn-cs"/>
            </a:defRPr>
          </a:pPr>
          <a:endParaRPr lang="hu-H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269F0E-289D-432E-B117-202A7B74DDF4}" type="doc">
      <dgm:prSet loTypeId="urn:microsoft.com/office/officeart/2005/8/layout/vProcess5" loCatId="process" qsTypeId="urn:microsoft.com/office/officeart/2005/8/quickstyle/simple5" qsCatId="simple" csTypeId="urn:microsoft.com/office/officeart/2005/8/colors/accent2_2" csCatId="accent2" phldr="1"/>
      <dgm:spPr/>
      <dgm:t>
        <a:bodyPr/>
        <a:lstStyle/>
        <a:p>
          <a:endParaRPr lang="en-US"/>
        </a:p>
      </dgm:t>
    </dgm:pt>
    <dgm:pt modelId="{CC8AAF34-AE2B-48DB-981A-9D76EAECD76F}">
      <dgm:prSet/>
      <dgm:spPr/>
      <dgm:t>
        <a:bodyPr/>
        <a:lstStyle/>
        <a:p>
          <a:r>
            <a:rPr lang="en-US"/>
            <a:t>Stake Kaszinó hálózat</a:t>
          </a:r>
        </a:p>
      </dgm:t>
    </dgm:pt>
    <dgm:pt modelId="{EEF75074-BB6F-4145-A4B4-72B1DE78816A}" type="parTrans" cxnId="{84AD6F3E-36CC-4F4B-AC8E-A0BA804F3440}">
      <dgm:prSet/>
      <dgm:spPr/>
      <dgm:t>
        <a:bodyPr/>
        <a:lstStyle/>
        <a:p>
          <a:endParaRPr lang="en-US"/>
        </a:p>
      </dgm:t>
    </dgm:pt>
    <dgm:pt modelId="{DABD7DD3-3CAD-4205-951C-FFFE3A3DC756}" type="sibTrans" cxnId="{84AD6F3E-36CC-4F4B-AC8E-A0BA804F3440}">
      <dgm:prSet/>
      <dgm:spPr/>
      <dgm:t>
        <a:bodyPr/>
        <a:lstStyle/>
        <a:p>
          <a:endParaRPr lang="en-US"/>
        </a:p>
      </dgm:t>
    </dgm:pt>
    <dgm:pt modelId="{6443C792-271C-413B-A188-CDDDA083DA06}">
      <dgm:prSet/>
      <dgm:spPr/>
      <dgm:t>
        <a:bodyPr/>
        <a:lstStyle/>
        <a:p>
          <a:r>
            <a:rPr lang="en-US"/>
            <a:t>4 város</a:t>
          </a:r>
        </a:p>
      </dgm:t>
    </dgm:pt>
    <dgm:pt modelId="{49F58C4B-C70F-4107-8E17-8A720AD96802}" type="parTrans" cxnId="{D1949D53-80F2-4D61-B532-0EB9D556F3AE}">
      <dgm:prSet/>
      <dgm:spPr/>
      <dgm:t>
        <a:bodyPr/>
        <a:lstStyle/>
        <a:p>
          <a:endParaRPr lang="en-US"/>
        </a:p>
      </dgm:t>
    </dgm:pt>
    <dgm:pt modelId="{51D3D0BA-B3B8-4B94-B16F-C6BBBB37273A}" type="sibTrans" cxnId="{D1949D53-80F2-4D61-B532-0EB9D556F3AE}">
      <dgm:prSet/>
      <dgm:spPr/>
      <dgm:t>
        <a:bodyPr/>
        <a:lstStyle/>
        <a:p>
          <a:endParaRPr lang="en-US"/>
        </a:p>
      </dgm:t>
    </dgm:pt>
    <dgm:pt modelId="{D4DEA857-1E36-4D03-81C9-A9359D535928}">
      <dgm:prSet/>
      <dgm:spPr/>
      <dgm:t>
        <a:bodyPr/>
        <a:lstStyle/>
        <a:p>
          <a:r>
            <a:rPr lang="en-US"/>
            <a:t>Központilag menedzselt</a:t>
          </a:r>
        </a:p>
      </dgm:t>
    </dgm:pt>
    <dgm:pt modelId="{126450DB-39F1-4EC0-BB3C-34F196629DA5}" type="parTrans" cxnId="{53841012-256F-4723-BC38-D98F00B4A022}">
      <dgm:prSet/>
      <dgm:spPr/>
      <dgm:t>
        <a:bodyPr/>
        <a:lstStyle/>
        <a:p>
          <a:endParaRPr lang="en-US"/>
        </a:p>
      </dgm:t>
    </dgm:pt>
    <dgm:pt modelId="{204D4E84-06DD-4782-AF08-9793FF9CC133}" type="sibTrans" cxnId="{53841012-256F-4723-BC38-D98F00B4A022}">
      <dgm:prSet/>
      <dgm:spPr/>
      <dgm:t>
        <a:bodyPr/>
        <a:lstStyle/>
        <a:p>
          <a:endParaRPr lang="en-US"/>
        </a:p>
      </dgm:t>
    </dgm:pt>
    <dgm:pt modelId="{20D22758-7B51-49CD-BF35-0FC79CD823E9}">
      <dgm:prSet/>
      <dgm:spPr/>
      <dgm:t>
        <a:bodyPr/>
        <a:lstStyle/>
        <a:p>
          <a:r>
            <a:rPr lang="en-US" b="1" dirty="0"/>
            <a:t>Budapest</a:t>
          </a:r>
          <a:r>
            <a:rPr lang="en-US" dirty="0"/>
            <a:t>, </a:t>
          </a:r>
          <a:r>
            <a:rPr lang="en-US" b="1" dirty="0"/>
            <a:t>Sopron</a:t>
          </a:r>
          <a:r>
            <a:rPr lang="en-US" dirty="0"/>
            <a:t>, </a:t>
          </a:r>
          <a:r>
            <a:rPr lang="en-US" b="1" dirty="0"/>
            <a:t>Pécs</a:t>
          </a:r>
          <a:r>
            <a:rPr lang="en-US" dirty="0"/>
            <a:t>, </a:t>
          </a:r>
          <a:r>
            <a:rPr lang="en-US" b="1" dirty="0" err="1">
              <a:solidFill>
                <a:srgbClr val="FF0000"/>
              </a:solidFill>
            </a:rPr>
            <a:t>Szekszárd</a:t>
          </a:r>
          <a:br>
            <a:rPr lang="en-US" dirty="0">
              <a:solidFill>
                <a:srgbClr val="FF0000"/>
              </a:solidFill>
            </a:rPr>
          </a:br>
          <a:endParaRPr lang="en-US" dirty="0">
            <a:solidFill>
              <a:srgbClr val="FF0000"/>
            </a:solidFill>
          </a:endParaRPr>
        </a:p>
      </dgm:t>
    </dgm:pt>
    <dgm:pt modelId="{D02FCEE8-93A1-4D13-9BE1-5283F653ACD9}" type="parTrans" cxnId="{2FE0E504-4154-4A16-8D14-38D03FFEE84C}">
      <dgm:prSet/>
      <dgm:spPr/>
      <dgm:t>
        <a:bodyPr/>
        <a:lstStyle/>
        <a:p>
          <a:endParaRPr lang="en-US"/>
        </a:p>
      </dgm:t>
    </dgm:pt>
    <dgm:pt modelId="{EAC99174-F8F8-4364-B8D7-4D7B8432E9DF}" type="sibTrans" cxnId="{2FE0E504-4154-4A16-8D14-38D03FFEE84C}">
      <dgm:prSet/>
      <dgm:spPr/>
      <dgm:t>
        <a:bodyPr/>
        <a:lstStyle/>
        <a:p>
          <a:endParaRPr lang="en-US"/>
        </a:p>
      </dgm:t>
    </dgm:pt>
    <dgm:pt modelId="{799EC2FF-1CDD-4E74-891C-65DAA33AAF59}" type="pres">
      <dgm:prSet presAssocID="{16269F0E-289D-432E-B117-202A7B74DDF4}" presName="outerComposite" presStyleCnt="0">
        <dgm:presLayoutVars>
          <dgm:chMax val="5"/>
          <dgm:dir/>
          <dgm:resizeHandles val="exact"/>
        </dgm:presLayoutVars>
      </dgm:prSet>
      <dgm:spPr/>
    </dgm:pt>
    <dgm:pt modelId="{B72B9431-1D15-48BD-83AE-D9FF0CA0BB09}" type="pres">
      <dgm:prSet presAssocID="{16269F0E-289D-432E-B117-202A7B74DDF4}" presName="dummyMaxCanvas" presStyleCnt="0">
        <dgm:presLayoutVars/>
      </dgm:prSet>
      <dgm:spPr/>
    </dgm:pt>
    <dgm:pt modelId="{641F21BF-D297-4F54-8AF3-5680C922947A}" type="pres">
      <dgm:prSet presAssocID="{16269F0E-289D-432E-B117-202A7B74DDF4}" presName="FourNodes_1" presStyleLbl="node1" presStyleIdx="0" presStyleCnt="4">
        <dgm:presLayoutVars>
          <dgm:bulletEnabled val="1"/>
        </dgm:presLayoutVars>
      </dgm:prSet>
      <dgm:spPr/>
    </dgm:pt>
    <dgm:pt modelId="{9DCF2F54-DE22-40DF-821E-ADD41530F9BA}" type="pres">
      <dgm:prSet presAssocID="{16269F0E-289D-432E-B117-202A7B74DDF4}" presName="FourNodes_2" presStyleLbl="node1" presStyleIdx="1" presStyleCnt="4">
        <dgm:presLayoutVars>
          <dgm:bulletEnabled val="1"/>
        </dgm:presLayoutVars>
      </dgm:prSet>
      <dgm:spPr/>
    </dgm:pt>
    <dgm:pt modelId="{C911C1D2-18AB-4D02-9400-99D4D6A1806A}" type="pres">
      <dgm:prSet presAssocID="{16269F0E-289D-432E-B117-202A7B74DDF4}" presName="FourNodes_3" presStyleLbl="node1" presStyleIdx="2" presStyleCnt="4">
        <dgm:presLayoutVars>
          <dgm:bulletEnabled val="1"/>
        </dgm:presLayoutVars>
      </dgm:prSet>
      <dgm:spPr/>
    </dgm:pt>
    <dgm:pt modelId="{E4B8EBD6-E1F8-4AFB-9A5F-30D1CEC02EEB}" type="pres">
      <dgm:prSet presAssocID="{16269F0E-289D-432E-B117-202A7B74DDF4}" presName="FourNodes_4" presStyleLbl="node1" presStyleIdx="3" presStyleCnt="4">
        <dgm:presLayoutVars>
          <dgm:bulletEnabled val="1"/>
        </dgm:presLayoutVars>
      </dgm:prSet>
      <dgm:spPr/>
    </dgm:pt>
    <dgm:pt modelId="{3E4B6422-F6F6-47BE-8FBF-9EBAAA9750E8}" type="pres">
      <dgm:prSet presAssocID="{16269F0E-289D-432E-B117-202A7B74DDF4}" presName="FourConn_1-2" presStyleLbl="fgAccFollowNode1" presStyleIdx="0" presStyleCnt="3">
        <dgm:presLayoutVars>
          <dgm:bulletEnabled val="1"/>
        </dgm:presLayoutVars>
      </dgm:prSet>
      <dgm:spPr/>
    </dgm:pt>
    <dgm:pt modelId="{9EF1AAC6-72A4-4881-88FF-957D3022F8E7}" type="pres">
      <dgm:prSet presAssocID="{16269F0E-289D-432E-B117-202A7B74DDF4}" presName="FourConn_2-3" presStyleLbl="fgAccFollowNode1" presStyleIdx="1" presStyleCnt="3">
        <dgm:presLayoutVars>
          <dgm:bulletEnabled val="1"/>
        </dgm:presLayoutVars>
      </dgm:prSet>
      <dgm:spPr/>
    </dgm:pt>
    <dgm:pt modelId="{D5434596-73CF-4989-AFA2-2D9AC386A1C7}" type="pres">
      <dgm:prSet presAssocID="{16269F0E-289D-432E-B117-202A7B74DDF4}" presName="FourConn_3-4" presStyleLbl="fgAccFollowNode1" presStyleIdx="2" presStyleCnt="3">
        <dgm:presLayoutVars>
          <dgm:bulletEnabled val="1"/>
        </dgm:presLayoutVars>
      </dgm:prSet>
      <dgm:spPr/>
    </dgm:pt>
    <dgm:pt modelId="{43D8C99F-C163-4B93-899B-250E0BCB05BD}" type="pres">
      <dgm:prSet presAssocID="{16269F0E-289D-432E-B117-202A7B74DDF4}" presName="FourNodes_1_text" presStyleLbl="node1" presStyleIdx="3" presStyleCnt="4">
        <dgm:presLayoutVars>
          <dgm:bulletEnabled val="1"/>
        </dgm:presLayoutVars>
      </dgm:prSet>
      <dgm:spPr/>
    </dgm:pt>
    <dgm:pt modelId="{D8A3D8C1-AFF3-425A-9FF8-60FD41F9430B}" type="pres">
      <dgm:prSet presAssocID="{16269F0E-289D-432E-B117-202A7B74DDF4}" presName="FourNodes_2_text" presStyleLbl="node1" presStyleIdx="3" presStyleCnt="4">
        <dgm:presLayoutVars>
          <dgm:bulletEnabled val="1"/>
        </dgm:presLayoutVars>
      </dgm:prSet>
      <dgm:spPr/>
    </dgm:pt>
    <dgm:pt modelId="{0D278404-6FA3-462F-AEC9-7A372B533DAF}" type="pres">
      <dgm:prSet presAssocID="{16269F0E-289D-432E-B117-202A7B74DDF4}" presName="FourNodes_3_text" presStyleLbl="node1" presStyleIdx="3" presStyleCnt="4">
        <dgm:presLayoutVars>
          <dgm:bulletEnabled val="1"/>
        </dgm:presLayoutVars>
      </dgm:prSet>
      <dgm:spPr/>
    </dgm:pt>
    <dgm:pt modelId="{78FBE486-017F-41E6-BC51-BBB41F1231C1}" type="pres">
      <dgm:prSet presAssocID="{16269F0E-289D-432E-B117-202A7B74DDF4}" presName="FourNodes_4_text" presStyleLbl="node1" presStyleIdx="3" presStyleCnt="4">
        <dgm:presLayoutVars>
          <dgm:bulletEnabled val="1"/>
        </dgm:presLayoutVars>
      </dgm:prSet>
      <dgm:spPr/>
    </dgm:pt>
  </dgm:ptLst>
  <dgm:cxnLst>
    <dgm:cxn modelId="{2FE0E504-4154-4A16-8D14-38D03FFEE84C}" srcId="{16269F0E-289D-432E-B117-202A7B74DDF4}" destId="{20D22758-7B51-49CD-BF35-0FC79CD823E9}" srcOrd="3" destOrd="0" parTransId="{D02FCEE8-93A1-4D13-9BE1-5283F653ACD9}" sibTransId="{EAC99174-F8F8-4364-B8D7-4D7B8432E9DF}"/>
    <dgm:cxn modelId="{49D4990B-05A5-44DC-9523-FC8513EADA60}" type="presOf" srcId="{DABD7DD3-3CAD-4205-951C-FFFE3A3DC756}" destId="{3E4B6422-F6F6-47BE-8FBF-9EBAAA9750E8}" srcOrd="0" destOrd="0" presId="urn:microsoft.com/office/officeart/2005/8/layout/vProcess5"/>
    <dgm:cxn modelId="{53841012-256F-4723-BC38-D98F00B4A022}" srcId="{16269F0E-289D-432E-B117-202A7B74DDF4}" destId="{D4DEA857-1E36-4D03-81C9-A9359D535928}" srcOrd="2" destOrd="0" parTransId="{126450DB-39F1-4EC0-BB3C-34F196629DA5}" sibTransId="{204D4E84-06DD-4782-AF08-9793FF9CC133}"/>
    <dgm:cxn modelId="{ED7F821A-E194-451C-ADEA-A700513E1056}" type="presOf" srcId="{16269F0E-289D-432E-B117-202A7B74DDF4}" destId="{799EC2FF-1CDD-4E74-891C-65DAA33AAF59}" srcOrd="0" destOrd="0" presId="urn:microsoft.com/office/officeart/2005/8/layout/vProcess5"/>
    <dgm:cxn modelId="{92548335-2356-48D2-BB42-0428326958CA}" type="presOf" srcId="{6443C792-271C-413B-A188-CDDDA083DA06}" destId="{9DCF2F54-DE22-40DF-821E-ADD41530F9BA}" srcOrd="0" destOrd="0" presId="urn:microsoft.com/office/officeart/2005/8/layout/vProcess5"/>
    <dgm:cxn modelId="{55B81139-5AC0-4140-99D4-8C574EE5BC9A}" type="presOf" srcId="{6443C792-271C-413B-A188-CDDDA083DA06}" destId="{D8A3D8C1-AFF3-425A-9FF8-60FD41F9430B}" srcOrd="1" destOrd="0" presId="urn:microsoft.com/office/officeart/2005/8/layout/vProcess5"/>
    <dgm:cxn modelId="{84AD6F3E-36CC-4F4B-AC8E-A0BA804F3440}" srcId="{16269F0E-289D-432E-B117-202A7B74DDF4}" destId="{CC8AAF34-AE2B-48DB-981A-9D76EAECD76F}" srcOrd="0" destOrd="0" parTransId="{EEF75074-BB6F-4145-A4B4-72B1DE78816A}" sibTransId="{DABD7DD3-3CAD-4205-951C-FFFE3A3DC756}"/>
    <dgm:cxn modelId="{2F0E3448-344D-4433-85D5-5CBBC1EFE968}" type="presOf" srcId="{204D4E84-06DD-4782-AF08-9793FF9CC133}" destId="{D5434596-73CF-4989-AFA2-2D9AC386A1C7}" srcOrd="0" destOrd="0" presId="urn:microsoft.com/office/officeart/2005/8/layout/vProcess5"/>
    <dgm:cxn modelId="{D1949D53-80F2-4D61-B532-0EB9D556F3AE}" srcId="{16269F0E-289D-432E-B117-202A7B74DDF4}" destId="{6443C792-271C-413B-A188-CDDDA083DA06}" srcOrd="1" destOrd="0" parTransId="{49F58C4B-C70F-4107-8E17-8A720AD96802}" sibTransId="{51D3D0BA-B3B8-4B94-B16F-C6BBBB37273A}"/>
    <dgm:cxn modelId="{93134F95-90D2-47FC-A85E-E2E70BA5D337}" type="presOf" srcId="{CC8AAF34-AE2B-48DB-981A-9D76EAECD76F}" destId="{641F21BF-D297-4F54-8AF3-5680C922947A}" srcOrd="0" destOrd="0" presId="urn:microsoft.com/office/officeart/2005/8/layout/vProcess5"/>
    <dgm:cxn modelId="{AFC86497-9D84-4202-8743-8FABB8D4D1DC}" type="presOf" srcId="{51D3D0BA-B3B8-4B94-B16F-C6BBBB37273A}" destId="{9EF1AAC6-72A4-4881-88FF-957D3022F8E7}" srcOrd="0" destOrd="0" presId="urn:microsoft.com/office/officeart/2005/8/layout/vProcess5"/>
    <dgm:cxn modelId="{E39C77B1-80DF-47EF-95F9-A1C177193329}" type="presOf" srcId="{D4DEA857-1E36-4D03-81C9-A9359D535928}" destId="{C911C1D2-18AB-4D02-9400-99D4D6A1806A}" srcOrd="0" destOrd="0" presId="urn:microsoft.com/office/officeart/2005/8/layout/vProcess5"/>
    <dgm:cxn modelId="{19A32CC3-81DA-4216-B501-B6F6D34B42AE}" type="presOf" srcId="{20D22758-7B51-49CD-BF35-0FC79CD823E9}" destId="{78FBE486-017F-41E6-BC51-BBB41F1231C1}" srcOrd="1" destOrd="0" presId="urn:microsoft.com/office/officeart/2005/8/layout/vProcess5"/>
    <dgm:cxn modelId="{A3AB45DD-C6EC-4E98-A2DB-F71917BB4CEC}" type="presOf" srcId="{20D22758-7B51-49CD-BF35-0FC79CD823E9}" destId="{E4B8EBD6-E1F8-4AFB-9A5F-30D1CEC02EEB}" srcOrd="0" destOrd="0" presId="urn:microsoft.com/office/officeart/2005/8/layout/vProcess5"/>
    <dgm:cxn modelId="{AAC723E8-E004-445A-9D6A-55F27A0CE972}" type="presOf" srcId="{CC8AAF34-AE2B-48DB-981A-9D76EAECD76F}" destId="{43D8C99F-C163-4B93-899B-250E0BCB05BD}" srcOrd="1" destOrd="0" presId="urn:microsoft.com/office/officeart/2005/8/layout/vProcess5"/>
    <dgm:cxn modelId="{939D12EA-789E-4527-AD9B-19C7306238E0}" type="presOf" srcId="{D4DEA857-1E36-4D03-81C9-A9359D535928}" destId="{0D278404-6FA3-462F-AEC9-7A372B533DAF}" srcOrd="1" destOrd="0" presId="urn:microsoft.com/office/officeart/2005/8/layout/vProcess5"/>
    <dgm:cxn modelId="{578934E7-FE39-4877-817D-1256E7547BE7}" type="presParOf" srcId="{799EC2FF-1CDD-4E74-891C-65DAA33AAF59}" destId="{B72B9431-1D15-48BD-83AE-D9FF0CA0BB09}" srcOrd="0" destOrd="0" presId="urn:microsoft.com/office/officeart/2005/8/layout/vProcess5"/>
    <dgm:cxn modelId="{D893C35B-A8A9-4BCE-B419-9585C0E9719C}" type="presParOf" srcId="{799EC2FF-1CDD-4E74-891C-65DAA33AAF59}" destId="{641F21BF-D297-4F54-8AF3-5680C922947A}" srcOrd="1" destOrd="0" presId="urn:microsoft.com/office/officeart/2005/8/layout/vProcess5"/>
    <dgm:cxn modelId="{5045C2D7-A76C-486F-A3A1-782D4DF95D8A}" type="presParOf" srcId="{799EC2FF-1CDD-4E74-891C-65DAA33AAF59}" destId="{9DCF2F54-DE22-40DF-821E-ADD41530F9BA}" srcOrd="2" destOrd="0" presId="urn:microsoft.com/office/officeart/2005/8/layout/vProcess5"/>
    <dgm:cxn modelId="{A381FFC3-670D-4EC4-8DE0-F6C526153088}" type="presParOf" srcId="{799EC2FF-1CDD-4E74-891C-65DAA33AAF59}" destId="{C911C1D2-18AB-4D02-9400-99D4D6A1806A}" srcOrd="3" destOrd="0" presId="urn:microsoft.com/office/officeart/2005/8/layout/vProcess5"/>
    <dgm:cxn modelId="{E0521755-F779-4EBF-8592-ACB26925D57F}" type="presParOf" srcId="{799EC2FF-1CDD-4E74-891C-65DAA33AAF59}" destId="{E4B8EBD6-E1F8-4AFB-9A5F-30D1CEC02EEB}" srcOrd="4" destOrd="0" presId="urn:microsoft.com/office/officeart/2005/8/layout/vProcess5"/>
    <dgm:cxn modelId="{A75B7F00-F3C8-4CDE-B086-70091BAF28C7}" type="presParOf" srcId="{799EC2FF-1CDD-4E74-891C-65DAA33AAF59}" destId="{3E4B6422-F6F6-47BE-8FBF-9EBAAA9750E8}" srcOrd="5" destOrd="0" presId="urn:microsoft.com/office/officeart/2005/8/layout/vProcess5"/>
    <dgm:cxn modelId="{57F0D484-3EB7-4599-80D5-05A10EB46133}" type="presParOf" srcId="{799EC2FF-1CDD-4E74-891C-65DAA33AAF59}" destId="{9EF1AAC6-72A4-4881-88FF-957D3022F8E7}" srcOrd="6" destOrd="0" presId="urn:microsoft.com/office/officeart/2005/8/layout/vProcess5"/>
    <dgm:cxn modelId="{BD04376A-B8E1-4028-B9EA-AB4CA50A15A5}" type="presParOf" srcId="{799EC2FF-1CDD-4E74-891C-65DAA33AAF59}" destId="{D5434596-73CF-4989-AFA2-2D9AC386A1C7}" srcOrd="7" destOrd="0" presId="urn:microsoft.com/office/officeart/2005/8/layout/vProcess5"/>
    <dgm:cxn modelId="{5E4BDE38-E07F-453B-B827-28886F6FB1D5}" type="presParOf" srcId="{799EC2FF-1CDD-4E74-891C-65DAA33AAF59}" destId="{43D8C99F-C163-4B93-899B-250E0BCB05BD}" srcOrd="8" destOrd="0" presId="urn:microsoft.com/office/officeart/2005/8/layout/vProcess5"/>
    <dgm:cxn modelId="{BE483A22-93A2-4AB8-AFBC-6D2B8E2B1AB9}" type="presParOf" srcId="{799EC2FF-1CDD-4E74-891C-65DAA33AAF59}" destId="{D8A3D8C1-AFF3-425A-9FF8-60FD41F9430B}" srcOrd="9" destOrd="0" presId="urn:microsoft.com/office/officeart/2005/8/layout/vProcess5"/>
    <dgm:cxn modelId="{4E20F8CB-11EA-477B-B2F6-8C913984789E}" type="presParOf" srcId="{799EC2FF-1CDD-4E74-891C-65DAA33AAF59}" destId="{0D278404-6FA3-462F-AEC9-7A372B533DAF}" srcOrd="10" destOrd="0" presId="urn:microsoft.com/office/officeart/2005/8/layout/vProcess5"/>
    <dgm:cxn modelId="{E29E60CC-A235-4A13-9F67-18CFE2E85344}" type="presParOf" srcId="{799EC2FF-1CDD-4E74-891C-65DAA33AAF59}" destId="{78FBE486-017F-41E6-BC51-BBB41F1231C1}"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7DBCA5-5FFA-427B-BD76-1DF0B17F28B4}" type="doc">
      <dgm:prSet loTypeId="urn:microsoft.com/office/officeart/2016/7/layout/LinearBlockProcessNumbered" loCatId="process" qsTypeId="urn:microsoft.com/office/officeart/2005/8/quickstyle/simple4" qsCatId="simple" csTypeId="urn:microsoft.com/office/officeart/2005/8/colors/accent0_3" csCatId="mainScheme"/>
      <dgm:spPr/>
      <dgm:t>
        <a:bodyPr/>
        <a:lstStyle/>
        <a:p>
          <a:endParaRPr lang="en-US"/>
        </a:p>
      </dgm:t>
    </dgm:pt>
    <dgm:pt modelId="{0DEAFB7C-FE1B-48C6-973F-F26A5AAF779F}">
      <dgm:prSet/>
      <dgm:spPr/>
      <dgm:t>
        <a:bodyPr/>
        <a:lstStyle/>
        <a:p>
          <a:r>
            <a:rPr lang="en-US" b="0" i="0" baseline="0" dirty="0"/>
            <a:t>Minden </a:t>
          </a:r>
          <a:r>
            <a:rPr lang="en-US" b="0" i="0" baseline="0" dirty="0" err="1"/>
            <a:t>város</a:t>
          </a:r>
          <a:r>
            <a:rPr lang="en-US" b="0" i="0" baseline="0" dirty="0"/>
            <a:t> </a:t>
          </a:r>
          <a:r>
            <a:rPr lang="en-US" b="0" i="0" baseline="0" dirty="0" err="1"/>
            <a:t>saját</a:t>
          </a:r>
          <a:r>
            <a:rPr lang="en-US" b="0" i="0" baseline="0" dirty="0"/>
            <a:t> </a:t>
          </a:r>
          <a:r>
            <a:rPr lang="en-US" b="0" i="0" baseline="0" dirty="0" err="1"/>
            <a:t>alhálózaton</a:t>
          </a:r>
          <a:endParaRPr lang="en-US" dirty="0"/>
        </a:p>
      </dgm:t>
    </dgm:pt>
    <dgm:pt modelId="{4A30F528-8269-438F-8511-3564E3113D5C}" type="parTrans" cxnId="{04D55433-9A1E-49A0-8857-52F78CF55C89}">
      <dgm:prSet/>
      <dgm:spPr/>
      <dgm:t>
        <a:bodyPr/>
        <a:lstStyle/>
        <a:p>
          <a:endParaRPr lang="en-US"/>
        </a:p>
      </dgm:t>
    </dgm:pt>
    <dgm:pt modelId="{32AA214F-2703-4EAB-8094-C26EBB7F94E4}" type="sibTrans" cxnId="{04D55433-9A1E-49A0-8857-52F78CF55C89}">
      <dgm:prSet phldrT="01" phldr="0"/>
      <dgm:spPr/>
      <dgm:t>
        <a:bodyPr/>
        <a:lstStyle/>
        <a:p>
          <a:r>
            <a:rPr lang="en-US"/>
            <a:t>01</a:t>
          </a:r>
        </a:p>
      </dgm:t>
    </dgm:pt>
    <dgm:pt modelId="{EC8B00FF-8C83-4017-B1F2-536014034442}">
      <dgm:prSet/>
      <dgm:spPr/>
      <dgm:t>
        <a:bodyPr/>
        <a:lstStyle/>
        <a:p>
          <a:r>
            <a:rPr lang="en-US" b="0" i="0" baseline="0"/>
            <a:t>Redundáns, biztonságos hálózati felépítés</a:t>
          </a:r>
          <a:endParaRPr lang="en-US"/>
        </a:p>
      </dgm:t>
    </dgm:pt>
    <dgm:pt modelId="{545E98AF-BC42-4025-BA05-D616EDD9239A}" type="parTrans" cxnId="{9D83F618-E670-4797-BAAA-FAEFD4B5D799}">
      <dgm:prSet/>
      <dgm:spPr/>
      <dgm:t>
        <a:bodyPr/>
        <a:lstStyle/>
        <a:p>
          <a:endParaRPr lang="en-US"/>
        </a:p>
      </dgm:t>
    </dgm:pt>
    <dgm:pt modelId="{23D8A279-2939-477B-8677-3F410D9D1FC0}" type="sibTrans" cxnId="{9D83F618-E670-4797-BAAA-FAEFD4B5D799}">
      <dgm:prSet phldrT="02" phldr="0"/>
      <dgm:spPr/>
      <dgm:t>
        <a:bodyPr/>
        <a:lstStyle/>
        <a:p>
          <a:r>
            <a:rPr lang="en-US"/>
            <a:t>02</a:t>
          </a:r>
        </a:p>
      </dgm:t>
    </dgm:pt>
    <dgm:pt modelId="{9011829C-20FF-4AA2-B450-A4D91482AE29}">
      <dgm:prSet/>
      <dgm:spPr/>
      <dgm:t>
        <a:bodyPr/>
        <a:lstStyle/>
        <a:p>
          <a:r>
            <a:rPr lang="en-US" b="0" i="0" baseline="0"/>
            <a:t>Egységes DNS, logikus IP struktúra</a:t>
          </a:r>
          <a:endParaRPr lang="en-US"/>
        </a:p>
      </dgm:t>
    </dgm:pt>
    <dgm:pt modelId="{8D3935A3-6A57-4D91-89FD-AD0549BA21A1}" type="parTrans" cxnId="{42B0A65E-EA8C-4C95-AD06-D9670E0702A9}">
      <dgm:prSet/>
      <dgm:spPr/>
      <dgm:t>
        <a:bodyPr/>
        <a:lstStyle/>
        <a:p>
          <a:endParaRPr lang="en-US"/>
        </a:p>
      </dgm:t>
    </dgm:pt>
    <dgm:pt modelId="{74C745D2-3E89-47ED-842C-7342531F682C}" type="sibTrans" cxnId="{42B0A65E-EA8C-4C95-AD06-D9670E0702A9}">
      <dgm:prSet phldrT="03" phldr="0"/>
      <dgm:spPr/>
      <dgm:t>
        <a:bodyPr/>
        <a:lstStyle/>
        <a:p>
          <a:r>
            <a:rPr lang="en-US"/>
            <a:t>03</a:t>
          </a:r>
        </a:p>
      </dgm:t>
    </dgm:pt>
    <dgm:pt modelId="{B0382F4F-7A6A-4623-92FD-4E9CD6C87040}">
      <dgm:prSet/>
      <dgm:spPr/>
      <dgm:t>
        <a:bodyPr/>
        <a:lstStyle/>
        <a:p>
          <a:r>
            <a:rPr lang="en-US" b="0" i="0" baseline="0"/>
            <a:t>Stabil kapcsolat a kaszinók között</a:t>
          </a:r>
          <a:endParaRPr lang="en-US"/>
        </a:p>
      </dgm:t>
    </dgm:pt>
    <dgm:pt modelId="{D6E1BBD6-043A-45B2-B453-057F209D2388}" type="parTrans" cxnId="{89456EEF-CAF7-4CB8-B4E1-1035A60D9DD9}">
      <dgm:prSet/>
      <dgm:spPr/>
      <dgm:t>
        <a:bodyPr/>
        <a:lstStyle/>
        <a:p>
          <a:endParaRPr lang="en-US"/>
        </a:p>
      </dgm:t>
    </dgm:pt>
    <dgm:pt modelId="{05BEE129-9FE9-4230-AEBA-AB13BBEC1970}" type="sibTrans" cxnId="{89456EEF-CAF7-4CB8-B4E1-1035A60D9DD9}">
      <dgm:prSet phldrT="04" phldr="0"/>
      <dgm:spPr/>
      <dgm:t>
        <a:bodyPr/>
        <a:lstStyle/>
        <a:p>
          <a:r>
            <a:rPr lang="en-US"/>
            <a:t>04</a:t>
          </a:r>
        </a:p>
      </dgm:t>
    </dgm:pt>
    <dgm:pt modelId="{7196DA6F-E97D-4C91-B682-01C807CA8B7C}" type="pres">
      <dgm:prSet presAssocID="{EF7DBCA5-5FFA-427B-BD76-1DF0B17F28B4}" presName="Name0" presStyleCnt="0">
        <dgm:presLayoutVars>
          <dgm:animLvl val="lvl"/>
          <dgm:resizeHandles val="exact"/>
        </dgm:presLayoutVars>
      </dgm:prSet>
      <dgm:spPr/>
    </dgm:pt>
    <dgm:pt modelId="{10C1105F-ED0E-4196-9F92-8720D73CEDDC}" type="pres">
      <dgm:prSet presAssocID="{0DEAFB7C-FE1B-48C6-973F-F26A5AAF779F}" presName="compositeNode" presStyleCnt="0">
        <dgm:presLayoutVars>
          <dgm:bulletEnabled val="1"/>
        </dgm:presLayoutVars>
      </dgm:prSet>
      <dgm:spPr/>
    </dgm:pt>
    <dgm:pt modelId="{837CBF36-3658-4D6E-A95C-B3D9065CA43C}" type="pres">
      <dgm:prSet presAssocID="{0DEAFB7C-FE1B-48C6-973F-F26A5AAF779F}" presName="bgRect" presStyleLbl="alignNode1" presStyleIdx="0" presStyleCnt="4"/>
      <dgm:spPr/>
    </dgm:pt>
    <dgm:pt modelId="{95FE7BD5-C1E2-4111-89E1-DD274CB9501C}" type="pres">
      <dgm:prSet presAssocID="{32AA214F-2703-4EAB-8094-C26EBB7F94E4}" presName="sibTransNodeRect" presStyleLbl="alignNode1" presStyleIdx="0" presStyleCnt="4">
        <dgm:presLayoutVars>
          <dgm:chMax val="0"/>
          <dgm:bulletEnabled val="1"/>
        </dgm:presLayoutVars>
      </dgm:prSet>
      <dgm:spPr/>
    </dgm:pt>
    <dgm:pt modelId="{1C39FCEF-8ACC-45E1-8333-493D6D8A69C1}" type="pres">
      <dgm:prSet presAssocID="{0DEAFB7C-FE1B-48C6-973F-F26A5AAF779F}" presName="nodeRect" presStyleLbl="alignNode1" presStyleIdx="0" presStyleCnt="4">
        <dgm:presLayoutVars>
          <dgm:bulletEnabled val="1"/>
        </dgm:presLayoutVars>
      </dgm:prSet>
      <dgm:spPr/>
    </dgm:pt>
    <dgm:pt modelId="{BA505EAA-FA34-4383-B753-3814CC1D2FD2}" type="pres">
      <dgm:prSet presAssocID="{32AA214F-2703-4EAB-8094-C26EBB7F94E4}" presName="sibTrans" presStyleCnt="0"/>
      <dgm:spPr/>
    </dgm:pt>
    <dgm:pt modelId="{1EB9E20C-D355-4154-AB75-3B8F4524EFE7}" type="pres">
      <dgm:prSet presAssocID="{EC8B00FF-8C83-4017-B1F2-536014034442}" presName="compositeNode" presStyleCnt="0">
        <dgm:presLayoutVars>
          <dgm:bulletEnabled val="1"/>
        </dgm:presLayoutVars>
      </dgm:prSet>
      <dgm:spPr/>
    </dgm:pt>
    <dgm:pt modelId="{5D2FF57A-15F6-4657-8AF3-1A8A38C2300D}" type="pres">
      <dgm:prSet presAssocID="{EC8B00FF-8C83-4017-B1F2-536014034442}" presName="bgRect" presStyleLbl="alignNode1" presStyleIdx="1" presStyleCnt="4"/>
      <dgm:spPr/>
    </dgm:pt>
    <dgm:pt modelId="{54020DF4-69FC-45BF-822E-C214527AB6A1}" type="pres">
      <dgm:prSet presAssocID="{23D8A279-2939-477B-8677-3F410D9D1FC0}" presName="sibTransNodeRect" presStyleLbl="alignNode1" presStyleIdx="1" presStyleCnt="4">
        <dgm:presLayoutVars>
          <dgm:chMax val="0"/>
          <dgm:bulletEnabled val="1"/>
        </dgm:presLayoutVars>
      </dgm:prSet>
      <dgm:spPr/>
    </dgm:pt>
    <dgm:pt modelId="{9285B2B2-918B-42D0-B831-CF0F4477C9B5}" type="pres">
      <dgm:prSet presAssocID="{EC8B00FF-8C83-4017-B1F2-536014034442}" presName="nodeRect" presStyleLbl="alignNode1" presStyleIdx="1" presStyleCnt="4">
        <dgm:presLayoutVars>
          <dgm:bulletEnabled val="1"/>
        </dgm:presLayoutVars>
      </dgm:prSet>
      <dgm:spPr/>
    </dgm:pt>
    <dgm:pt modelId="{01952C0E-D5F1-4355-B456-DBC51D518D6E}" type="pres">
      <dgm:prSet presAssocID="{23D8A279-2939-477B-8677-3F410D9D1FC0}" presName="sibTrans" presStyleCnt="0"/>
      <dgm:spPr/>
    </dgm:pt>
    <dgm:pt modelId="{B939103B-632F-4E9D-A077-AA2E87E914C9}" type="pres">
      <dgm:prSet presAssocID="{9011829C-20FF-4AA2-B450-A4D91482AE29}" presName="compositeNode" presStyleCnt="0">
        <dgm:presLayoutVars>
          <dgm:bulletEnabled val="1"/>
        </dgm:presLayoutVars>
      </dgm:prSet>
      <dgm:spPr/>
    </dgm:pt>
    <dgm:pt modelId="{FC03230E-8814-4756-9E10-B28BF0E71212}" type="pres">
      <dgm:prSet presAssocID="{9011829C-20FF-4AA2-B450-A4D91482AE29}" presName="bgRect" presStyleLbl="alignNode1" presStyleIdx="2" presStyleCnt="4"/>
      <dgm:spPr/>
    </dgm:pt>
    <dgm:pt modelId="{E861108A-FEE7-4133-A33B-4176CCD807C4}" type="pres">
      <dgm:prSet presAssocID="{74C745D2-3E89-47ED-842C-7342531F682C}" presName="sibTransNodeRect" presStyleLbl="alignNode1" presStyleIdx="2" presStyleCnt="4">
        <dgm:presLayoutVars>
          <dgm:chMax val="0"/>
          <dgm:bulletEnabled val="1"/>
        </dgm:presLayoutVars>
      </dgm:prSet>
      <dgm:spPr/>
    </dgm:pt>
    <dgm:pt modelId="{228AB815-E11E-4B2D-979C-8FA712AE93D4}" type="pres">
      <dgm:prSet presAssocID="{9011829C-20FF-4AA2-B450-A4D91482AE29}" presName="nodeRect" presStyleLbl="alignNode1" presStyleIdx="2" presStyleCnt="4">
        <dgm:presLayoutVars>
          <dgm:bulletEnabled val="1"/>
        </dgm:presLayoutVars>
      </dgm:prSet>
      <dgm:spPr/>
    </dgm:pt>
    <dgm:pt modelId="{0A09A4C0-9CA9-4BD3-8D03-4785104673ED}" type="pres">
      <dgm:prSet presAssocID="{74C745D2-3E89-47ED-842C-7342531F682C}" presName="sibTrans" presStyleCnt="0"/>
      <dgm:spPr/>
    </dgm:pt>
    <dgm:pt modelId="{AE74BDF8-B76F-434D-88B6-4D4BC163A735}" type="pres">
      <dgm:prSet presAssocID="{B0382F4F-7A6A-4623-92FD-4E9CD6C87040}" presName="compositeNode" presStyleCnt="0">
        <dgm:presLayoutVars>
          <dgm:bulletEnabled val="1"/>
        </dgm:presLayoutVars>
      </dgm:prSet>
      <dgm:spPr/>
    </dgm:pt>
    <dgm:pt modelId="{D23A47F1-F1E0-4BFC-A100-9BF15E7D72AD}" type="pres">
      <dgm:prSet presAssocID="{B0382F4F-7A6A-4623-92FD-4E9CD6C87040}" presName="bgRect" presStyleLbl="alignNode1" presStyleIdx="3" presStyleCnt="4"/>
      <dgm:spPr/>
    </dgm:pt>
    <dgm:pt modelId="{485C6E07-9D68-4605-9FAF-356541887627}" type="pres">
      <dgm:prSet presAssocID="{05BEE129-9FE9-4230-AEBA-AB13BBEC1970}" presName="sibTransNodeRect" presStyleLbl="alignNode1" presStyleIdx="3" presStyleCnt="4">
        <dgm:presLayoutVars>
          <dgm:chMax val="0"/>
          <dgm:bulletEnabled val="1"/>
        </dgm:presLayoutVars>
      </dgm:prSet>
      <dgm:spPr/>
    </dgm:pt>
    <dgm:pt modelId="{B673DDE6-4A48-4053-ABDB-1EBCC57A7DBA}" type="pres">
      <dgm:prSet presAssocID="{B0382F4F-7A6A-4623-92FD-4E9CD6C87040}" presName="nodeRect" presStyleLbl="alignNode1" presStyleIdx="3" presStyleCnt="4">
        <dgm:presLayoutVars>
          <dgm:bulletEnabled val="1"/>
        </dgm:presLayoutVars>
      </dgm:prSet>
      <dgm:spPr/>
    </dgm:pt>
  </dgm:ptLst>
  <dgm:cxnLst>
    <dgm:cxn modelId="{9D83F618-E670-4797-BAAA-FAEFD4B5D799}" srcId="{EF7DBCA5-5FFA-427B-BD76-1DF0B17F28B4}" destId="{EC8B00FF-8C83-4017-B1F2-536014034442}" srcOrd="1" destOrd="0" parTransId="{545E98AF-BC42-4025-BA05-D616EDD9239A}" sibTransId="{23D8A279-2939-477B-8677-3F410D9D1FC0}"/>
    <dgm:cxn modelId="{090C2929-DC67-4958-939F-9089AEB87880}" type="presOf" srcId="{B0382F4F-7A6A-4623-92FD-4E9CD6C87040}" destId="{D23A47F1-F1E0-4BFC-A100-9BF15E7D72AD}" srcOrd="0" destOrd="0" presId="urn:microsoft.com/office/officeart/2016/7/layout/LinearBlockProcessNumbered"/>
    <dgm:cxn modelId="{CAF0022A-84BF-42AC-B9ED-5D83B8555D4D}" type="presOf" srcId="{9011829C-20FF-4AA2-B450-A4D91482AE29}" destId="{FC03230E-8814-4756-9E10-B28BF0E71212}" srcOrd="0" destOrd="0" presId="urn:microsoft.com/office/officeart/2016/7/layout/LinearBlockProcessNumbered"/>
    <dgm:cxn modelId="{04D55433-9A1E-49A0-8857-52F78CF55C89}" srcId="{EF7DBCA5-5FFA-427B-BD76-1DF0B17F28B4}" destId="{0DEAFB7C-FE1B-48C6-973F-F26A5AAF779F}" srcOrd="0" destOrd="0" parTransId="{4A30F528-8269-438F-8511-3564E3113D5C}" sibTransId="{32AA214F-2703-4EAB-8094-C26EBB7F94E4}"/>
    <dgm:cxn modelId="{0CB17B5E-2749-446C-A860-B8E8DFD5CAA8}" type="presOf" srcId="{EC8B00FF-8C83-4017-B1F2-536014034442}" destId="{9285B2B2-918B-42D0-B831-CF0F4477C9B5}" srcOrd="1" destOrd="0" presId="urn:microsoft.com/office/officeart/2016/7/layout/LinearBlockProcessNumbered"/>
    <dgm:cxn modelId="{42B0A65E-EA8C-4C95-AD06-D9670E0702A9}" srcId="{EF7DBCA5-5FFA-427B-BD76-1DF0B17F28B4}" destId="{9011829C-20FF-4AA2-B450-A4D91482AE29}" srcOrd="2" destOrd="0" parTransId="{8D3935A3-6A57-4D91-89FD-AD0549BA21A1}" sibTransId="{74C745D2-3E89-47ED-842C-7342531F682C}"/>
    <dgm:cxn modelId="{8082396E-810A-46E7-86BE-CD8B04616A00}" type="presOf" srcId="{B0382F4F-7A6A-4623-92FD-4E9CD6C87040}" destId="{B673DDE6-4A48-4053-ABDB-1EBCC57A7DBA}" srcOrd="1" destOrd="0" presId="urn:microsoft.com/office/officeart/2016/7/layout/LinearBlockProcessNumbered"/>
    <dgm:cxn modelId="{604CF64F-8A13-4F5D-814A-0ED10E217926}" type="presOf" srcId="{0DEAFB7C-FE1B-48C6-973F-F26A5AAF779F}" destId="{837CBF36-3658-4D6E-A95C-B3D9065CA43C}" srcOrd="0" destOrd="0" presId="urn:microsoft.com/office/officeart/2016/7/layout/LinearBlockProcessNumbered"/>
    <dgm:cxn modelId="{614A168B-21F7-423A-9955-C89C9AD2B2D2}" type="presOf" srcId="{EC8B00FF-8C83-4017-B1F2-536014034442}" destId="{5D2FF57A-15F6-4657-8AF3-1A8A38C2300D}" srcOrd="0" destOrd="0" presId="urn:microsoft.com/office/officeart/2016/7/layout/LinearBlockProcessNumbered"/>
    <dgm:cxn modelId="{C53D9C92-DD34-438A-B89E-FE5FAC8B7166}" type="presOf" srcId="{EF7DBCA5-5FFA-427B-BD76-1DF0B17F28B4}" destId="{7196DA6F-E97D-4C91-B682-01C807CA8B7C}" srcOrd="0" destOrd="0" presId="urn:microsoft.com/office/officeart/2016/7/layout/LinearBlockProcessNumbered"/>
    <dgm:cxn modelId="{1643B3A3-382A-4D05-805A-F0C00DAA094C}" type="presOf" srcId="{74C745D2-3E89-47ED-842C-7342531F682C}" destId="{E861108A-FEE7-4133-A33B-4176CCD807C4}" srcOrd="0" destOrd="0" presId="urn:microsoft.com/office/officeart/2016/7/layout/LinearBlockProcessNumbered"/>
    <dgm:cxn modelId="{1506A5AD-729A-45FC-AC6D-2724FC39A264}" type="presOf" srcId="{9011829C-20FF-4AA2-B450-A4D91482AE29}" destId="{228AB815-E11E-4B2D-979C-8FA712AE93D4}" srcOrd="1" destOrd="0" presId="urn:microsoft.com/office/officeart/2016/7/layout/LinearBlockProcessNumbered"/>
    <dgm:cxn modelId="{E4E69FC4-46AD-4594-9302-9F2E7E3596F4}" type="presOf" srcId="{32AA214F-2703-4EAB-8094-C26EBB7F94E4}" destId="{95FE7BD5-C1E2-4111-89E1-DD274CB9501C}" srcOrd="0" destOrd="0" presId="urn:microsoft.com/office/officeart/2016/7/layout/LinearBlockProcessNumbered"/>
    <dgm:cxn modelId="{7169E9D0-FB1D-4AA3-B062-BF4C6C8B7C2F}" type="presOf" srcId="{23D8A279-2939-477B-8677-3F410D9D1FC0}" destId="{54020DF4-69FC-45BF-822E-C214527AB6A1}" srcOrd="0" destOrd="0" presId="urn:microsoft.com/office/officeart/2016/7/layout/LinearBlockProcessNumbered"/>
    <dgm:cxn modelId="{2F6EA4E1-256A-4C27-BA61-E426F523577F}" type="presOf" srcId="{0DEAFB7C-FE1B-48C6-973F-F26A5AAF779F}" destId="{1C39FCEF-8ACC-45E1-8333-493D6D8A69C1}" srcOrd="1" destOrd="0" presId="urn:microsoft.com/office/officeart/2016/7/layout/LinearBlockProcessNumbered"/>
    <dgm:cxn modelId="{E3E1E4E5-941C-4081-867C-51AB86D162A6}" type="presOf" srcId="{05BEE129-9FE9-4230-AEBA-AB13BBEC1970}" destId="{485C6E07-9D68-4605-9FAF-356541887627}" srcOrd="0" destOrd="0" presId="urn:microsoft.com/office/officeart/2016/7/layout/LinearBlockProcessNumbered"/>
    <dgm:cxn modelId="{89456EEF-CAF7-4CB8-B4E1-1035A60D9DD9}" srcId="{EF7DBCA5-5FFA-427B-BD76-1DF0B17F28B4}" destId="{B0382F4F-7A6A-4623-92FD-4E9CD6C87040}" srcOrd="3" destOrd="0" parTransId="{D6E1BBD6-043A-45B2-B453-057F209D2388}" sibTransId="{05BEE129-9FE9-4230-AEBA-AB13BBEC1970}"/>
    <dgm:cxn modelId="{EDFEC68D-26D9-416C-87CD-488380916893}" type="presParOf" srcId="{7196DA6F-E97D-4C91-B682-01C807CA8B7C}" destId="{10C1105F-ED0E-4196-9F92-8720D73CEDDC}" srcOrd="0" destOrd="0" presId="urn:microsoft.com/office/officeart/2016/7/layout/LinearBlockProcessNumbered"/>
    <dgm:cxn modelId="{FE912228-1C5F-47DF-AA69-35196FBB78D8}" type="presParOf" srcId="{10C1105F-ED0E-4196-9F92-8720D73CEDDC}" destId="{837CBF36-3658-4D6E-A95C-B3D9065CA43C}" srcOrd="0" destOrd="0" presId="urn:microsoft.com/office/officeart/2016/7/layout/LinearBlockProcessNumbered"/>
    <dgm:cxn modelId="{26B6670C-B764-4DD0-9844-D771897B6596}" type="presParOf" srcId="{10C1105F-ED0E-4196-9F92-8720D73CEDDC}" destId="{95FE7BD5-C1E2-4111-89E1-DD274CB9501C}" srcOrd="1" destOrd="0" presId="urn:microsoft.com/office/officeart/2016/7/layout/LinearBlockProcessNumbered"/>
    <dgm:cxn modelId="{FD2E6078-FAFE-4638-8C68-D0435889B4C8}" type="presParOf" srcId="{10C1105F-ED0E-4196-9F92-8720D73CEDDC}" destId="{1C39FCEF-8ACC-45E1-8333-493D6D8A69C1}" srcOrd="2" destOrd="0" presId="urn:microsoft.com/office/officeart/2016/7/layout/LinearBlockProcessNumbered"/>
    <dgm:cxn modelId="{1F1F89A6-AE5B-46C4-84BF-914B4FD1BE25}" type="presParOf" srcId="{7196DA6F-E97D-4C91-B682-01C807CA8B7C}" destId="{BA505EAA-FA34-4383-B753-3814CC1D2FD2}" srcOrd="1" destOrd="0" presId="urn:microsoft.com/office/officeart/2016/7/layout/LinearBlockProcessNumbered"/>
    <dgm:cxn modelId="{26D23385-9C40-44A6-AB95-D92241BEDB87}" type="presParOf" srcId="{7196DA6F-E97D-4C91-B682-01C807CA8B7C}" destId="{1EB9E20C-D355-4154-AB75-3B8F4524EFE7}" srcOrd="2" destOrd="0" presId="urn:microsoft.com/office/officeart/2016/7/layout/LinearBlockProcessNumbered"/>
    <dgm:cxn modelId="{6C0BF309-E5CA-4971-81AB-BDDEA08FD7F6}" type="presParOf" srcId="{1EB9E20C-D355-4154-AB75-3B8F4524EFE7}" destId="{5D2FF57A-15F6-4657-8AF3-1A8A38C2300D}" srcOrd="0" destOrd="0" presId="urn:microsoft.com/office/officeart/2016/7/layout/LinearBlockProcessNumbered"/>
    <dgm:cxn modelId="{225FEB2D-BD18-4DD3-B289-A003CD1172D2}" type="presParOf" srcId="{1EB9E20C-D355-4154-AB75-3B8F4524EFE7}" destId="{54020DF4-69FC-45BF-822E-C214527AB6A1}" srcOrd="1" destOrd="0" presId="urn:microsoft.com/office/officeart/2016/7/layout/LinearBlockProcessNumbered"/>
    <dgm:cxn modelId="{8138B4DA-16A4-4F9B-A002-606545C6FC63}" type="presParOf" srcId="{1EB9E20C-D355-4154-AB75-3B8F4524EFE7}" destId="{9285B2B2-918B-42D0-B831-CF0F4477C9B5}" srcOrd="2" destOrd="0" presId="urn:microsoft.com/office/officeart/2016/7/layout/LinearBlockProcessNumbered"/>
    <dgm:cxn modelId="{3969A8B1-4607-4E3F-BB3A-6FAB2E836A1F}" type="presParOf" srcId="{7196DA6F-E97D-4C91-B682-01C807CA8B7C}" destId="{01952C0E-D5F1-4355-B456-DBC51D518D6E}" srcOrd="3" destOrd="0" presId="urn:microsoft.com/office/officeart/2016/7/layout/LinearBlockProcessNumbered"/>
    <dgm:cxn modelId="{F91E712E-4439-43D6-A570-0D5B87E0B398}" type="presParOf" srcId="{7196DA6F-E97D-4C91-B682-01C807CA8B7C}" destId="{B939103B-632F-4E9D-A077-AA2E87E914C9}" srcOrd="4" destOrd="0" presId="urn:microsoft.com/office/officeart/2016/7/layout/LinearBlockProcessNumbered"/>
    <dgm:cxn modelId="{4198C78F-6B79-422D-81CE-63880F10BB30}" type="presParOf" srcId="{B939103B-632F-4E9D-A077-AA2E87E914C9}" destId="{FC03230E-8814-4756-9E10-B28BF0E71212}" srcOrd="0" destOrd="0" presId="urn:microsoft.com/office/officeart/2016/7/layout/LinearBlockProcessNumbered"/>
    <dgm:cxn modelId="{1C6EE930-1DA8-4CD2-83E1-3F7508C45B6B}" type="presParOf" srcId="{B939103B-632F-4E9D-A077-AA2E87E914C9}" destId="{E861108A-FEE7-4133-A33B-4176CCD807C4}" srcOrd="1" destOrd="0" presId="urn:microsoft.com/office/officeart/2016/7/layout/LinearBlockProcessNumbered"/>
    <dgm:cxn modelId="{14C9C5C4-7713-478C-9B5D-86A73B4CF6EC}" type="presParOf" srcId="{B939103B-632F-4E9D-A077-AA2E87E914C9}" destId="{228AB815-E11E-4B2D-979C-8FA712AE93D4}" srcOrd="2" destOrd="0" presId="urn:microsoft.com/office/officeart/2016/7/layout/LinearBlockProcessNumbered"/>
    <dgm:cxn modelId="{D19F28D0-137E-4399-B2FA-9EE876C5218E}" type="presParOf" srcId="{7196DA6F-E97D-4C91-B682-01C807CA8B7C}" destId="{0A09A4C0-9CA9-4BD3-8D03-4785104673ED}" srcOrd="5" destOrd="0" presId="urn:microsoft.com/office/officeart/2016/7/layout/LinearBlockProcessNumbered"/>
    <dgm:cxn modelId="{98E17FC1-CD18-423A-AF8A-476020405E47}" type="presParOf" srcId="{7196DA6F-E97D-4C91-B682-01C807CA8B7C}" destId="{AE74BDF8-B76F-434D-88B6-4D4BC163A735}" srcOrd="6" destOrd="0" presId="urn:microsoft.com/office/officeart/2016/7/layout/LinearBlockProcessNumbered"/>
    <dgm:cxn modelId="{A552A8DE-2F6F-453A-8CA3-9A0021B7928D}" type="presParOf" srcId="{AE74BDF8-B76F-434D-88B6-4D4BC163A735}" destId="{D23A47F1-F1E0-4BFC-A100-9BF15E7D72AD}" srcOrd="0" destOrd="0" presId="urn:microsoft.com/office/officeart/2016/7/layout/LinearBlockProcessNumbered"/>
    <dgm:cxn modelId="{515F6E29-A705-4D4A-A1C1-B3C2477553A5}" type="presParOf" srcId="{AE74BDF8-B76F-434D-88B6-4D4BC163A735}" destId="{485C6E07-9D68-4605-9FAF-356541887627}" srcOrd="1" destOrd="0" presId="urn:microsoft.com/office/officeart/2016/7/layout/LinearBlockProcessNumbered"/>
    <dgm:cxn modelId="{36259635-402C-42FB-92BB-D66741EC4C07}" type="presParOf" srcId="{AE74BDF8-B76F-434D-88B6-4D4BC163A735}" destId="{B673DDE6-4A48-4053-ABDB-1EBCC57A7DBA}"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1F21BF-D297-4F54-8AF3-5680C922947A}">
      <dsp:nvSpPr>
        <dsp:cNvPr id="0" name=""/>
        <dsp:cNvSpPr/>
      </dsp:nvSpPr>
      <dsp:spPr>
        <a:xfrm>
          <a:off x="0" y="0"/>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Stake Kaszinó hálózat</a:t>
          </a:r>
        </a:p>
      </dsp:txBody>
      <dsp:txXfrm>
        <a:off x="28038" y="28038"/>
        <a:ext cx="7298593" cy="901218"/>
      </dsp:txXfrm>
    </dsp:sp>
    <dsp:sp modelId="{9DCF2F54-DE22-40DF-821E-ADD41530F9BA}">
      <dsp:nvSpPr>
        <dsp:cNvPr id="0" name=""/>
        <dsp:cNvSpPr/>
      </dsp:nvSpPr>
      <dsp:spPr>
        <a:xfrm>
          <a:off x="704545" y="1131347"/>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4 város</a:t>
          </a:r>
        </a:p>
      </dsp:txBody>
      <dsp:txXfrm>
        <a:off x="732583" y="1159385"/>
        <a:ext cx="7029617" cy="901218"/>
      </dsp:txXfrm>
    </dsp:sp>
    <dsp:sp modelId="{C911C1D2-18AB-4D02-9400-99D4D6A1806A}">
      <dsp:nvSpPr>
        <dsp:cNvPr id="0" name=""/>
        <dsp:cNvSpPr/>
      </dsp:nvSpPr>
      <dsp:spPr>
        <a:xfrm>
          <a:off x="1398574" y="2262695"/>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Központilag menedzselt</a:t>
          </a:r>
        </a:p>
      </dsp:txBody>
      <dsp:txXfrm>
        <a:off x="1426612" y="2290733"/>
        <a:ext cx="7040133" cy="901218"/>
      </dsp:txXfrm>
    </dsp:sp>
    <dsp:sp modelId="{E4B8EBD6-E1F8-4AFB-9A5F-30D1CEC02EEB}">
      <dsp:nvSpPr>
        <dsp:cNvPr id="0" name=""/>
        <dsp:cNvSpPr/>
      </dsp:nvSpPr>
      <dsp:spPr>
        <a:xfrm>
          <a:off x="2103119" y="3394043"/>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t>Budapest</a:t>
          </a:r>
          <a:r>
            <a:rPr lang="en-US" sz="2500" kern="1200" dirty="0"/>
            <a:t>, </a:t>
          </a:r>
          <a:r>
            <a:rPr lang="en-US" sz="2500" b="1" kern="1200" dirty="0"/>
            <a:t>Sopron</a:t>
          </a:r>
          <a:r>
            <a:rPr lang="en-US" sz="2500" kern="1200" dirty="0"/>
            <a:t>, </a:t>
          </a:r>
          <a:r>
            <a:rPr lang="en-US" sz="2500" b="1" kern="1200" dirty="0"/>
            <a:t>Pécs</a:t>
          </a:r>
          <a:r>
            <a:rPr lang="en-US" sz="2500" kern="1200" dirty="0"/>
            <a:t>, </a:t>
          </a:r>
          <a:r>
            <a:rPr lang="en-US" sz="2500" b="1" kern="1200" dirty="0" err="1">
              <a:solidFill>
                <a:srgbClr val="FF0000"/>
              </a:solidFill>
            </a:rPr>
            <a:t>Szekszárd</a:t>
          </a:r>
          <a:br>
            <a:rPr lang="en-US" sz="2500" kern="1200" dirty="0">
              <a:solidFill>
                <a:srgbClr val="FF0000"/>
              </a:solidFill>
            </a:rPr>
          </a:br>
          <a:endParaRPr lang="en-US" sz="2500" kern="1200" dirty="0">
            <a:solidFill>
              <a:srgbClr val="FF0000"/>
            </a:solidFill>
          </a:endParaRPr>
        </a:p>
      </dsp:txBody>
      <dsp:txXfrm>
        <a:off x="2131157" y="3422081"/>
        <a:ext cx="7029617" cy="901218"/>
      </dsp:txXfrm>
    </dsp:sp>
    <dsp:sp modelId="{3E4B6422-F6F6-47BE-8FBF-9EBAAA9750E8}">
      <dsp:nvSpPr>
        <dsp:cNvPr id="0" name=""/>
        <dsp:cNvSpPr/>
      </dsp:nvSpPr>
      <dsp:spPr>
        <a:xfrm>
          <a:off x="7790238" y="733200"/>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242" y="733200"/>
        <a:ext cx="342233" cy="468236"/>
      </dsp:txXfrm>
    </dsp:sp>
    <dsp:sp modelId="{9EF1AAC6-72A4-4881-88FF-957D3022F8E7}">
      <dsp:nvSpPr>
        <dsp:cNvPr id="0" name=""/>
        <dsp:cNvSpPr/>
      </dsp:nvSpPr>
      <dsp:spPr>
        <a:xfrm>
          <a:off x="8494783" y="1864548"/>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787" y="1864548"/>
        <a:ext cx="342233" cy="468236"/>
      </dsp:txXfrm>
    </dsp:sp>
    <dsp:sp modelId="{D5434596-73CF-4989-AFA2-2D9AC386A1C7}">
      <dsp:nvSpPr>
        <dsp:cNvPr id="0" name=""/>
        <dsp:cNvSpPr/>
      </dsp:nvSpPr>
      <dsp:spPr>
        <a:xfrm>
          <a:off x="9188813" y="2995896"/>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817" y="2995896"/>
        <a:ext cx="342233" cy="468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7CBF36-3658-4D6E-A95C-B3D9065CA43C}">
      <dsp:nvSpPr>
        <dsp:cNvPr id="0" name=""/>
        <dsp:cNvSpPr/>
      </dsp:nvSpPr>
      <dsp:spPr>
        <a:xfrm>
          <a:off x="198"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t>Minden </a:t>
          </a:r>
          <a:r>
            <a:rPr lang="en-US" sz="2100" b="0" i="0" kern="1200" baseline="0" dirty="0" err="1"/>
            <a:t>város</a:t>
          </a:r>
          <a:r>
            <a:rPr lang="en-US" sz="2100" b="0" i="0" kern="1200" baseline="0" dirty="0"/>
            <a:t> </a:t>
          </a:r>
          <a:r>
            <a:rPr lang="en-US" sz="2100" b="0" i="0" kern="1200" baseline="0" dirty="0" err="1"/>
            <a:t>saját</a:t>
          </a:r>
          <a:r>
            <a:rPr lang="en-US" sz="2100" b="0" i="0" kern="1200" baseline="0" dirty="0"/>
            <a:t> </a:t>
          </a:r>
          <a:r>
            <a:rPr lang="en-US" sz="2100" b="0" i="0" kern="1200" baseline="0" dirty="0" err="1"/>
            <a:t>alhálózaton</a:t>
          </a:r>
          <a:endParaRPr lang="en-US" sz="2100" kern="1200" dirty="0"/>
        </a:p>
      </dsp:txBody>
      <dsp:txXfrm>
        <a:off x="198" y="1035383"/>
        <a:ext cx="2397363" cy="1553074"/>
      </dsp:txXfrm>
    </dsp:sp>
    <dsp:sp modelId="{95FE7BD5-C1E2-4111-89E1-DD274CB9501C}">
      <dsp:nvSpPr>
        <dsp:cNvPr id="0" name=""/>
        <dsp:cNvSpPr/>
      </dsp:nvSpPr>
      <dsp:spPr>
        <a:xfrm>
          <a:off x="198"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01</a:t>
          </a:r>
        </a:p>
      </dsp:txBody>
      <dsp:txXfrm>
        <a:off x="198" y="0"/>
        <a:ext cx="2397363" cy="1035383"/>
      </dsp:txXfrm>
    </dsp:sp>
    <dsp:sp modelId="{5D2FF57A-15F6-4657-8AF3-1A8A38C2300D}">
      <dsp:nvSpPr>
        <dsp:cNvPr id="0" name=""/>
        <dsp:cNvSpPr/>
      </dsp:nvSpPr>
      <dsp:spPr>
        <a:xfrm>
          <a:off x="2589351"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b="0" i="0" kern="1200" baseline="0"/>
            <a:t>Redundáns, biztonságos hálózati felépítés</a:t>
          </a:r>
          <a:endParaRPr lang="en-US" sz="2100" kern="1200"/>
        </a:p>
      </dsp:txBody>
      <dsp:txXfrm>
        <a:off x="2589351" y="1035383"/>
        <a:ext cx="2397363" cy="1553074"/>
      </dsp:txXfrm>
    </dsp:sp>
    <dsp:sp modelId="{54020DF4-69FC-45BF-822E-C214527AB6A1}">
      <dsp:nvSpPr>
        <dsp:cNvPr id="0" name=""/>
        <dsp:cNvSpPr/>
      </dsp:nvSpPr>
      <dsp:spPr>
        <a:xfrm>
          <a:off x="2589351"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02</a:t>
          </a:r>
        </a:p>
      </dsp:txBody>
      <dsp:txXfrm>
        <a:off x="2589351" y="0"/>
        <a:ext cx="2397363" cy="1035383"/>
      </dsp:txXfrm>
    </dsp:sp>
    <dsp:sp modelId="{FC03230E-8814-4756-9E10-B28BF0E71212}">
      <dsp:nvSpPr>
        <dsp:cNvPr id="0" name=""/>
        <dsp:cNvSpPr/>
      </dsp:nvSpPr>
      <dsp:spPr>
        <a:xfrm>
          <a:off x="5178503"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b="0" i="0" kern="1200" baseline="0"/>
            <a:t>Egységes DNS, logikus IP struktúra</a:t>
          </a:r>
          <a:endParaRPr lang="en-US" sz="2100" kern="1200"/>
        </a:p>
      </dsp:txBody>
      <dsp:txXfrm>
        <a:off x="5178503" y="1035383"/>
        <a:ext cx="2397363" cy="1553074"/>
      </dsp:txXfrm>
    </dsp:sp>
    <dsp:sp modelId="{E861108A-FEE7-4133-A33B-4176CCD807C4}">
      <dsp:nvSpPr>
        <dsp:cNvPr id="0" name=""/>
        <dsp:cNvSpPr/>
      </dsp:nvSpPr>
      <dsp:spPr>
        <a:xfrm>
          <a:off x="5178503"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03</a:t>
          </a:r>
        </a:p>
      </dsp:txBody>
      <dsp:txXfrm>
        <a:off x="5178503" y="0"/>
        <a:ext cx="2397363" cy="1035383"/>
      </dsp:txXfrm>
    </dsp:sp>
    <dsp:sp modelId="{D23A47F1-F1E0-4BFC-A100-9BF15E7D72AD}">
      <dsp:nvSpPr>
        <dsp:cNvPr id="0" name=""/>
        <dsp:cNvSpPr/>
      </dsp:nvSpPr>
      <dsp:spPr>
        <a:xfrm>
          <a:off x="7767656"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b="0" i="0" kern="1200" baseline="0"/>
            <a:t>Stabil kapcsolat a kaszinók között</a:t>
          </a:r>
          <a:endParaRPr lang="en-US" sz="2100" kern="1200"/>
        </a:p>
      </dsp:txBody>
      <dsp:txXfrm>
        <a:off x="7767656" y="1035383"/>
        <a:ext cx="2397363" cy="1553074"/>
      </dsp:txXfrm>
    </dsp:sp>
    <dsp:sp modelId="{485C6E07-9D68-4605-9FAF-356541887627}">
      <dsp:nvSpPr>
        <dsp:cNvPr id="0" name=""/>
        <dsp:cNvSpPr/>
      </dsp:nvSpPr>
      <dsp:spPr>
        <a:xfrm>
          <a:off x="7767656"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04</a:t>
          </a:r>
        </a:p>
      </dsp:txBody>
      <dsp:txXfrm>
        <a:off x="7767656" y="0"/>
        <a:ext cx="2397363" cy="103538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610728-2937-4D16-92C4-F2CE424C48A0}" type="datetimeFigureOut">
              <a:rPr lang="hu-HU" smtClean="0"/>
              <a:t>2026. 04. 29.</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C7ED40-DFCB-457A-B7BD-21BAE0EE2A3D}" type="slidenum">
              <a:rPr lang="hu-HU" smtClean="0"/>
              <a:t>‹#›</a:t>
            </a:fld>
            <a:endParaRPr lang="hu-HU"/>
          </a:p>
        </p:txBody>
      </p:sp>
    </p:spTree>
    <p:extLst>
      <p:ext uri="{BB962C8B-B14F-4D97-AF65-F5344CB8AC3E}">
        <p14:creationId xmlns:p14="http://schemas.microsoft.com/office/powerpoint/2010/main" val="3885060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a:t>
            </a:r>
            <a:r>
              <a:rPr lang="hu-HU" dirty="0" err="1"/>
              <a:t>stake</a:t>
            </a:r>
            <a:r>
              <a:rPr lang="hu-HU" dirty="0"/>
              <a:t> egy kaszinó aminek </a:t>
            </a:r>
            <a:r>
              <a:rPr lang="hu-HU" dirty="0" err="1"/>
              <a:t>csinaltuk</a:t>
            </a:r>
            <a:r>
              <a:rPr lang="hu-HU" dirty="0"/>
              <a:t> a </a:t>
            </a:r>
            <a:r>
              <a:rPr lang="hu-HU" dirty="0" err="1"/>
              <a:t>halozatot</a:t>
            </a:r>
            <a:r>
              <a:rPr lang="hu-HU" dirty="0"/>
              <a:t> 4 városban van jelen a </a:t>
            </a:r>
            <a:r>
              <a:rPr lang="hu-HU" dirty="0" err="1"/>
              <a:t>kaszino</a:t>
            </a:r>
            <a:r>
              <a:rPr lang="hu-HU" dirty="0"/>
              <a:t>, </a:t>
            </a:r>
            <a:r>
              <a:rPr lang="hu-HU" dirty="0" err="1"/>
              <a:t>budapest</a:t>
            </a:r>
            <a:r>
              <a:rPr lang="hu-HU" dirty="0"/>
              <a:t> </a:t>
            </a:r>
            <a:r>
              <a:rPr lang="hu-HU" dirty="0" err="1"/>
              <a:t>sopron</a:t>
            </a:r>
            <a:r>
              <a:rPr lang="hu-HU" dirty="0"/>
              <a:t> </a:t>
            </a:r>
            <a:r>
              <a:rPr lang="hu-HU" dirty="0" err="1"/>
              <a:t>pécs</a:t>
            </a:r>
            <a:r>
              <a:rPr lang="hu-HU" dirty="0"/>
              <a:t> </a:t>
            </a:r>
            <a:r>
              <a:rPr lang="hu-HU" dirty="0" err="1"/>
              <a:t>szekszsárd</a:t>
            </a:r>
            <a:r>
              <a:rPr lang="hu-HU" dirty="0"/>
              <a:t> </a:t>
            </a:r>
            <a:r>
              <a:rPr lang="hu-HU" dirty="0" err="1"/>
              <a:t>abbol</a:t>
            </a:r>
            <a:r>
              <a:rPr lang="hu-HU" dirty="0"/>
              <a:t> </a:t>
            </a:r>
            <a:r>
              <a:rPr lang="hu-HU" dirty="0" err="1"/>
              <a:t>szekszárd</a:t>
            </a:r>
            <a:r>
              <a:rPr lang="hu-HU" dirty="0"/>
              <a:t> az </a:t>
            </a:r>
            <a:r>
              <a:rPr lang="hu-HU" dirty="0" err="1"/>
              <a:t>admin</a:t>
            </a:r>
            <a:r>
              <a:rPr lang="hu-HU" dirty="0"/>
              <a:t> város onnan van intézve minden</a:t>
            </a:r>
          </a:p>
        </p:txBody>
      </p:sp>
      <p:sp>
        <p:nvSpPr>
          <p:cNvPr id="4" name="Dia számának helye 3"/>
          <p:cNvSpPr>
            <a:spLocks noGrp="1"/>
          </p:cNvSpPr>
          <p:nvPr>
            <p:ph type="sldNum" sz="quarter" idx="5"/>
          </p:nvPr>
        </p:nvSpPr>
        <p:spPr/>
        <p:txBody>
          <a:bodyPr/>
          <a:lstStyle/>
          <a:p>
            <a:fld id="{1DC7ED40-DFCB-457A-B7BD-21BAE0EE2A3D}" type="slidenum">
              <a:rPr lang="hu-HU" smtClean="0"/>
              <a:t>2</a:t>
            </a:fld>
            <a:endParaRPr lang="hu-HU"/>
          </a:p>
        </p:txBody>
      </p:sp>
    </p:spTree>
    <p:extLst>
      <p:ext uri="{BB962C8B-B14F-4D97-AF65-F5344CB8AC3E}">
        <p14:creationId xmlns:p14="http://schemas.microsoft.com/office/powerpoint/2010/main" val="2854243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Feladatok: Haramia </a:t>
            </a:r>
            <a:r>
              <a:rPr lang="hu-HU" dirty="0" err="1"/>
              <a:t>balazs</a:t>
            </a:r>
            <a:r>
              <a:rPr lang="hu-HU" dirty="0"/>
              <a:t> kiosztotta a feladatokat, </a:t>
            </a:r>
            <a:r>
              <a:rPr lang="hu-HU" dirty="0" err="1"/>
              <a:t>ellenorizte</a:t>
            </a:r>
            <a:r>
              <a:rPr lang="hu-HU" dirty="0"/>
              <a:t> hogy </a:t>
            </a:r>
            <a:r>
              <a:rPr lang="hu-HU" dirty="0" err="1"/>
              <a:t>jol</a:t>
            </a:r>
            <a:r>
              <a:rPr lang="hu-HU" dirty="0"/>
              <a:t> </a:t>
            </a:r>
            <a:r>
              <a:rPr lang="hu-HU" dirty="0" err="1"/>
              <a:t>vegzi</a:t>
            </a:r>
            <a:r>
              <a:rPr lang="hu-HU" dirty="0"/>
              <a:t> e mindenki a </a:t>
            </a:r>
            <a:r>
              <a:rPr lang="hu-HU" dirty="0" err="1"/>
              <a:t>munkat</a:t>
            </a:r>
            <a:r>
              <a:rPr lang="hu-HU" dirty="0"/>
              <a:t>, </a:t>
            </a:r>
            <a:r>
              <a:rPr lang="hu-HU" dirty="0" err="1"/>
              <a:t>segitett</a:t>
            </a:r>
            <a:r>
              <a:rPr lang="hu-HU" dirty="0"/>
              <a:t> a </a:t>
            </a:r>
            <a:r>
              <a:rPr lang="hu-HU" dirty="0" err="1"/>
              <a:t>halozatban</a:t>
            </a:r>
            <a:r>
              <a:rPr lang="hu-HU" dirty="0"/>
              <a:t>, meg mindenbe . Farkas </a:t>
            </a:r>
            <a:r>
              <a:rPr lang="hu-HU" dirty="0" err="1"/>
              <a:t>kristof</a:t>
            </a:r>
            <a:r>
              <a:rPr lang="hu-HU" dirty="0"/>
              <a:t> fő feladata a </a:t>
            </a:r>
            <a:r>
              <a:rPr lang="hu-HU" dirty="0" err="1"/>
              <a:t>hálozat</a:t>
            </a:r>
            <a:r>
              <a:rPr lang="hu-HU" dirty="0"/>
              <a:t> </a:t>
            </a:r>
            <a:r>
              <a:rPr lang="hu-HU" dirty="0" err="1"/>
              <a:t>topologiajanak</a:t>
            </a:r>
            <a:r>
              <a:rPr lang="hu-HU" dirty="0"/>
              <a:t> </a:t>
            </a:r>
            <a:r>
              <a:rPr lang="hu-HU" dirty="0" err="1"/>
              <a:t>elkészitése</a:t>
            </a:r>
            <a:r>
              <a:rPr lang="hu-HU" dirty="0"/>
              <a:t> volt meg hogy milyen eszközök kellettek, eszközök </a:t>
            </a:r>
            <a:r>
              <a:rPr lang="hu-HU" dirty="0" err="1"/>
              <a:t>konfigurácioja</a:t>
            </a:r>
            <a:r>
              <a:rPr lang="hu-HU" dirty="0"/>
              <a:t> </a:t>
            </a:r>
            <a:r>
              <a:rPr lang="hu-HU" dirty="0" err="1"/>
              <a:t>stb</a:t>
            </a:r>
            <a:r>
              <a:rPr lang="hu-HU" dirty="0"/>
              <a:t>, janinak a fő feladata a tesztelés volt hogy megtudjuk hogy minden működik e, de mindketten </a:t>
            </a:r>
            <a:r>
              <a:rPr lang="hu-HU" dirty="0" err="1"/>
              <a:t>besegitettek</a:t>
            </a:r>
            <a:r>
              <a:rPr lang="hu-HU" dirty="0"/>
              <a:t> további feladatokban is. </a:t>
            </a:r>
            <a:r>
              <a:rPr lang="hu-HU" dirty="0" err="1"/>
              <a:t>Szoval</a:t>
            </a:r>
            <a:r>
              <a:rPr lang="hu-HU" dirty="0"/>
              <a:t> mindenki </a:t>
            </a:r>
            <a:r>
              <a:rPr lang="hu-HU" dirty="0" err="1"/>
              <a:t>csinalt</a:t>
            </a:r>
            <a:r>
              <a:rPr lang="hu-HU" dirty="0"/>
              <a:t> mindent is</a:t>
            </a:r>
          </a:p>
          <a:p>
            <a:endParaRPr lang="hu-HU" dirty="0"/>
          </a:p>
        </p:txBody>
      </p:sp>
      <p:sp>
        <p:nvSpPr>
          <p:cNvPr id="4" name="Dia számának helye 3"/>
          <p:cNvSpPr>
            <a:spLocks noGrp="1"/>
          </p:cNvSpPr>
          <p:nvPr>
            <p:ph type="sldNum" sz="quarter" idx="5"/>
          </p:nvPr>
        </p:nvSpPr>
        <p:spPr/>
        <p:txBody>
          <a:bodyPr/>
          <a:lstStyle/>
          <a:p>
            <a:fld id="{1DC7ED40-DFCB-457A-B7BD-21BAE0EE2A3D}" type="slidenum">
              <a:rPr lang="hu-HU" smtClean="0"/>
              <a:t>3</a:t>
            </a:fld>
            <a:endParaRPr lang="hu-HU"/>
          </a:p>
        </p:txBody>
      </p:sp>
    </p:spTree>
    <p:extLst>
      <p:ext uri="{BB962C8B-B14F-4D97-AF65-F5344CB8AC3E}">
        <p14:creationId xmlns:p14="http://schemas.microsoft.com/office/powerpoint/2010/main" val="3895905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a:t>4 varosban van jelen, szekszárd az admin város ugye, protokollok pl RIP, vagy GREVPN, masodik retegbeli és harmadik rétegbeli redundancia mukodik, pl ha megszakad egy kapcsolat akkor egy masik kapcsolatrol tovabb mukodik minden ugyanugy. Stb RIP: Ezt használtuk forgalom irányításra, a rip segítségével tudnak egymással komunikálni a külön hálózatban levő gépek. NAT: a natot arra használtuk hogy több belső privát ip címet lefordítsuk egy külső publikus ip re</a:t>
            </a:r>
          </a:p>
          <a:p>
            <a:endParaRPr lang="hu-HU" dirty="0"/>
          </a:p>
        </p:txBody>
      </p:sp>
      <p:sp>
        <p:nvSpPr>
          <p:cNvPr id="4" name="Dia számának helye 3"/>
          <p:cNvSpPr>
            <a:spLocks noGrp="1"/>
          </p:cNvSpPr>
          <p:nvPr>
            <p:ph type="sldNum" sz="quarter" idx="5"/>
          </p:nvPr>
        </p:nvSpPr>
        <p:spPr/>
        <p:txBody>
          <a:bodyPr/>
          <a:lstStyle/>
          <a:p>
            <a:fld id="{1DC7ED40-DFCB-457A-B7BD-21BAE0EE2A3D}" type="slidenum">
              <a:rPr lang="hu-HU" smtClean="0"/>
              <a:t>4</a:t>
            </a:fld>
            <a:endParaRPr lang="hu-HU"/>
          </a:p>
        </p:txBody>
      </p:sp>
    </p:spTree>
    <p:extLst>
      <p:ext uri="{BB962C8B-B14F-4D97-AF65-F5344CB8AC3E}">
        <p14:creationId xmlns:p14="http://schemas.microsoft.com/office/powerpoint/2010/main" val="827401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a:t>Budapest, 2 szoba + admin szoba, tűzfal találhato, a tűzfal ellenőrzi a szobákból ki és beáramló adatokat, a beáramló adatokat nagyobb mértékben szelektálja, statikus Ipk kiosztva, 20 gép 1 szerver 1 nyomtato, második rétegbeli redundancia, a router a másik 3 városhoz hozzákötve, statikus ip cimek mindenhol. Itt már elkezdtünk ipv6-os címeket használni, később az egész hálózatra ki akarjuk terjeszteni, a korlátozott ipv4-es címek miatt</a:t>
            </a:r>
            <a:endParaRPr lang="en-US"/>
          </a:p>
        </p:txBody>
      </p:sp>
      <p:sp>
        <p:nvSpPr>
          <p:cNvPr id="4" name="Dia számának helye 3"/>
          <p:cNvSpPr>
            <a:spLocks noGrp="1"/>
          </p:cNvSpPr>
          <p:nvPr>
            <p:ph type="sldNum" sz="quarter" idx="5"/>
          </p:nvPr>
        </p:nvSpPr>
        <p:spPr/>
        <p:txBody>
          <a:bodyPr/>
          <a:lstStyle/>
          <a:p>
            <a:fld id="{1DC7ED40-DFCB-457A-B7BD-21BAE0EE2A3D}" type="slidenum">
              <a:rPr lang="hu-HU" smtClean="0"/>
              <a:t>5</a:t>
            </a:fld>
            <a:endParaRPr lang="hu-HU"/>
          </a:p>
        </p:txBody>
      </p:sp>
    </p:spTree>
    <p:extLst>
      <p:ext uri="{BB962C8B-B14F-4D97-AF65-F5344CB8AC3E}">
        <p14:creationId xmlns:p14="http://schemas.microsoft.com/office/powerpoint/2010/main" val="2609388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a:t>Sopron, 2 szoba + admin, tűzfal + ACL az admin pc-hez, az ACL ellenőrzi az admin gép felé érkező adatokat. A tűzfal pedig ellenőrzi a szobákból ki és beáramló adatokat, a beáramló adatokat nagyobb mértékben szelektálja, 16 gép 1 szerver 1 nyomtato, a router hozzá van kötve a másik 3hoz, és második rétegbeli redundancia itt is stb, statikus ip cimek mindenhol</a:t>
            </a:r>
          </a:p>
          <a:p>
            <a:endParaRPr lang="hu-HU" dirty="0"/>
          </a:p>
        </p:txBody>
      </p:sp>
      <p:sp>
        <p:nvSpPr>
          <p:cNvPr id="4" name="Dia számának helye 3"/>
          <p:cNvSpPr>
            <a:spLocks noGrp="1"/>
          </p:cNvSpPr>
          <p:nvPr>
            <p:ph type="sldNum" sz="quarter" idx="5"/>
          </p:nvPr>
        </p:nvSpPr>
        <p:spPr/>
        <p:txBody>
          <a:bodyPr/>
          <a:lstStyle/>
          <a:p>
            <a:fld id="{1DC7ED40-DFCB-457A-B7BD-21BAE0EE2A3D}" type="slidenum">
              <a:rPr lang="hu-HU" smtClean="0"/>
              <a:t>6</a:t>
            </a:fld>
            <a:endParaRPr lang="hu-HU"/>
          </a:p>
        </p:txBody>
      </p:sp>
    </p:spTree>
    <p:extLst>
      <p:ext uri="{BB962C8B-B14F-4D97-AF65-F5344CB8AC3E}">
        <p14:creationId xmlns:p14="http://schemas.microsoft.com/office/powerpoint/2010/main" val="2707145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Pécs, 2 szoba + bar, </a:t>
            </a:r>
            <a:r>
              <a:rPr lang="hu-HU"/>
              <a:t>VLANok, a vlanban levő gépek csak az ugyan abban levő vlanban levő gépekkel tudnak komunikálni, a másik vlanban levővel nem, szoba 1 = statikus, szoba 2 =statikus, bár = dhcp </a:t>
            </a:r>
            <a:r>
              <a:rPr lang="hu-HU" dirty="0" err="1"/>
              <a:t>ip</a:t>
            </a:r>
            <a:r>
              <a:rPr lang="hu-HU" dirty="0"/>
              <a:t> kiosztások, Wifi kapcsolat a bárba, második </a:t>
            </a:r>
            <a:r>
              <a:rPr lang="hu-HU" dirty="0" err="1"/>
              <a:t>rétegbeli</a:t>
            </a:r>
            <a:r>
              <a:rPr lang="hu-HU" dirty="0"/>
              <a:t> redundancia, a router hozzá van kötve a másik 3hoz</a:t>
            </a:r>
          </a:p>
        </p:txBody>
      </p:sp>
      <p:sp>
        <p:nvSpPr>
          <p:cNvPr id="4" name="Dia számának helye 3"/>
          <p:cNvSpPr>
            <a:spLocks noGrp="1"/>
          </p:cNvSpPr>
          <p:nvPr>
            <p:ph type="sldNum" sz="quarter" idx="5"/>
          </p:nvPr>
        </p:nvSpPr>
        <p:spPr/>
        <p:txBody>
          <a:bodyPr/>
          <a:lstStyle/>
          <a:p>
            <a:fld id="{1DC7ED40-DFCB-457A-B7BD-21BAE0EE2A3D}" type="slidenum">
              <a:rPr lang="hu-HU" smtClean="0"/>
              <a:t>7</a:t>
            </a:fld>
            <a:endParaRPr lang="hu-HU"/>
          </a:p>
        </p:txBody>
      </p:sp>
    </p:spTree>
    <p:extLst>
      <p:ext uri="{BB962C8B-B14F-4D97-AF65-F5344CB8AC3E}">
        <p14:creationId xmlns:p14="http://schemas.microsoft.com/office/powerpoint/2010/main" val="2840121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Szekszárd, az </a:t>
            </a:r>
            <a:r>
              <a:rPr lang="hu-HU" dirty="0" err="1"/>
              <a:t>admin</a:t>
            </a:r>
            <a:r>
              <a:rPr lang="hu-HU" dirty="0"/>
              <a:t> város, iroda, szerver szoba és </a:t>
            </a:r>
            <a:r>
              <a:rPr lang="hu-HU" dirty="0" err="1"/>
              <a:t>admin</a:t>
            </a:r>
            <a:r>
              <a:rPr lang="hu-HU" dirty="0"/>
              <a:t> szoba, 12 gép 2 </a:t>
            </a:r>
            <a:r>
              <a:rPr lang="hu-HU" dirty="0" err="1"/>
              <a:t>nyomtato</a:t>
            </a:r>
            <a:r>
              <a:rPr lang="hu-HU" dirty="0"/>
              <a:t> 3 szerver, mail szerver az emailokhoz, webszerver weboldalhoz található itt. Statikus </a:t>
            </a:r>
            <a:r>
              <a:rPr lang="hu-HU" dirty="0" err="1"/>
              <a:t>ip</a:t>
            </a:r>
            <a:r>
              <a:rPr lang="hu-HU" dirty="0"/>
              <a:t> </a:t>
            </a:r>
            <a:r>
              <a:rPr lang="hu-HU" dirty="0" err="1"/>
              <a:t>cimek</a:t>
            </a:r>
            <a:r>
              <a:rPr lang="hu-HU" dirty="0"/>
              <a:t> vannak kiosztva itt, második </a:t>
            </a:r>
            <a:r>
              <a:rPr lang="hu-HU" dirty="0" err="1"/>
              <a:t>rétegbeli</a:t>
            </a:r>
            <a:r>
              <a:rPr lang="hu-HU"/>
              <a:t> redundancia, és a router a másik 3hoz van kötve. Szervereket virtual boxba hoztunk létre egy windows és egy linux több dolgot is konfiguráltunk benne: Active directory, dhcp, dns, HTTP/HTTPS, fájl és nyomtató megosztás, automatizált mentés, kliens gépekre automatizált szoftvertelepítés</a:t>
            </a:r>
            <a:endParaRPr lang="hu-HU" dirty="0"/>
          </a:p>
        </p:txBody>
      </p:sp>
      <p:sp>
        <p:nvSpPr>
          <p:cNvPr id="4" name="Dia számának helye 3"/>
          <p:cNvSpPr>
            <a:spLocks noGrp="1"/>
          </p:cNvSpPr>
          <p:nvPr>
            <p:ph type="sldNum" sz="quarter" idx="5"/>
          </p:nvPr>
        </p:nvSpPr>
        <p:spPr/>
        <p:txBody>
          <a:bodyPr/>
          <a:lstStyle/>
          <a:p>
            <a:fld id="{1DC7ED40-DFCB-457A-B7BD-21BAE0EE2A3D}" type="slidenum">
              <a:rPr lang="hu-HU" smtClean="0"/>
              <a:t>8</a:t>
            </a:fld>
            <a:endParaRPr lang="hu-HU"/>
          </a:p>
        </p:txBody>
      </p:sp>
    </p:spTree>
    <p:extLst>
      <p:ext uri="{BB962C8B-B14F-4D97-AF65-F5344CB8AC3E}">
        <p14:creationId xmlns:p14="http://schemas.microsoft.com/office/powerpoint/2010/main" val="3422591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Calibri"/>
                <a:ea typeface="Calibri"/>
                <a:cs typeface="Calibri"/>
              </a:rPr>
              <a:t>Több</a:t>
            </a:r>
            <a:r>
              <a:rPr lang="en-US" dirty="0">
                <a:latin typeface="Calibri"/>
                <a:ea typeface="Calibri"/>
                <a:cs typeface="Calibri"/>
              </a:rPr>
              <a:t> </a:t>
            </a:r>
            <a:r>
              <a:rPr lang="en-US" dirty="0" err="1">
                <a:latin typeface="Calibri"/>
                <a:ea typeface="Calibri"/>
                <a:cs typeface="Calibri"/>
              </a:rPr>
              <a:t>acl</a:t>
            </a:r>
            <a:r>
              <a:rPr lang="en-US" dirty="0">
                <a:latin typeface="Calibri"/>
                <a:ea typeface="Calibri"/>
                <a:cs typeface="Calibri"/>
              </a:rPr>
              <a:t> </a:t>
            </a:r>
            <a:r>
              <a:rPr lang="en-US" dirty="0" err="1">
                <a:latin typeface="Calibri"/>
                <a:ea typeface="Calibri"/>
                <a:cs typeface="Calibri"/>
              </a:rPr>
              <a:t>konfigurálása</a:t>
            </a:r>
            <a:r>
              <a:rPr lang="en-US" dirty="0">
                <a:latin typeface="Calibri"/>
                <a:ea typeface="Calibri"/>
                <a:cs typeface="Calibri"/>
              </a:rPr>
              <a:t>, </a:t>
            </a:r>
            <a:r>
              <a:rPr lang="en-US" dirty="0" err="1">
                <a:latin typeface="Calibri"/>
                <a:ea typeface="Calibri"/>
                <a:cs typeface="Calibri"/>
              </a:rPr>
              <a:t>erősebb</a:t>
            </a:r>
            <a:r>
              <a:rPr lang="en-US" dirty="0">
                <a:latin typeface="Calibri"/>
                <a:ea typeface="Calibri"/>
                <a:cs typeface="Calibri"/>
              </a:rPr>
              <a:t> </a:t>
            </a:r>
            <a:r>
              <a:rPr lang="en-US" dirty="0" err="1">
                <a:latin typeface="Calibri"/>
                <a:ea typeface="Calibri"/>
                <a:cs typeface="Calibri"/>
              </a:rPr>
              <a:t>jelszavak</a:t>
            </a:r>
            <a:r>
              <a:rPr lang="en-US" dirty="0">
                <a:latin typeface="Calibri"/>
                <a:ea typeface="Calibri"/>
                <a:cs typeface="Calibri"/>
              </a:rPr>
              <a:t> </a:t>
            </a:r>
            <a:r>
              <a:rPr lang="en-US" dirty="0" err="1">
                <a:latin typeface="Calibri"/>
                <a:ea typeface="Calibri"/>
                <a:cs typeface="Calibri"/>
              </a:rPr>
              <a:t>használata</a:t>
            </a:r>
            <a:r>
              <a:rPr lang="en-US" dirty="0">
                <a:latin typeface="Calibri"/>
                <a:ea typeface="Calibri"/>
                <a:cs typeface="Calibri"/>
              </a:rPr>
              <a:t>. </a:t>
            </a:r>
            <a:r>
              <a:rPr lang="en-US" dirty="0" err="1">
                <a:latin typeface="Calibri"/>
                <a:ea typeface="Calibri"/>
                <a:cs typeface="Calibri"/>
              </a:rPr>
              <a:t>Több</a:t>
            </a:r>
            <a:r>
              <a:rPr lang="en-US" dirty="0">
                <a:latin typeface="Calibri"/>
                <a:ea typeface="Calibri"/>
                <a:cs typeface="Calibri"/>
              </a:rPr>
              <a:t> </a:t>
            </a:r>
            <a:r>
              <a:rPr lang="en-US" dirty="0" err="1">
                <a:latin typeface="Calibri"/>
                <a:ea typeface="Calibri"/>
                <a:cs typeface="Calibri"/>
              </a:rPr>
              <a:t>tűzfal</a:t>
            </a:r>
            <a:r>
              <a:rPr lang="en-US" dirty="0">
                <a:latin typeface="Calibri"/>
                <a:ea typeface="Calibri"/>
                <a:cs typeface="Calibri"/>
              </a:rPr>
              <a:t> </a:t>
            </a:r>
            <a:r>
              <a:rPr lang="en-US" dirty="0" err="1">
                <a:latin typeface="Calibri"/>
                <a:ea typeface="Calibri"/>
                <a:cs typeface="Calibri"/>
              </a:rPr>
              <a:t>beszerzése</a:t>
            </a:r>
            <a:r>
              <a:rPr lang="en-US" dirty="0">
                <a:latin typeface="Calibri"/>
                <a:ea typeface="Calibri"/>
                <a:cs typeface="Calibri"/>
              </a:rPr>
              <a:t> </a:t>
            </a:r>
            <a:r>
              <a:rPr lang="en-US" dirty="0" err="1">
                <a:latin typeface="Calibri"/>
                <a:ea typeface="Calibri"/>
                <a:cs typeface="Calibri"/>
              </a:rPr>
              <a:t>és</a:t>
            </a:r>
            <a:r>
              <a:rPr lang="en-US" dirty="0">
                <a:latin typeface="Calibri"/>
                <a:ea typeface="Calibri"/>
                <a:cs typeface="Calibri"/>
              </a:rPr>
              <a:t> </a:t>
            </a:r>
            <a:r>
              <a:rPr lang="en-US" dirty="0" err="1">
                <a:latin typeface="Calibri"/>
                <a:ea typeface="Calibri"/>
                <a:cs typeface="Calibri"/>
              </a:rPr>
              <a:t>erősebb</a:t>
            </a:r>
            <a:r>
              <a:rPr lang="en-US" dirty="0">
                <a:latin typeface="Calibri"/>
                <a:ea typeface="Calibri"/>
                <a:cs typeface="Calibri"/>
              </a:rPr>
              <a:t> </a:t>
            </a:r>
            <a:r>
              <a:rPr lang="en-US" dirty="0" err="1">
                <a:latin typeface="Calibri"/>
                <a:ea typeface="Calibri"/>
                <a:cs typeface="Calibri"/>
              </a:rPr>
              <a:t>tűzfal</a:t>
            </a:r>
            <a:r>
              <a:rPr lang="en-US" dirty="0">
                <a:latin typeface="Calibri"/>
                <a:ea typeface="Calibri"/>
                <a:cs typeface="Calibri"/>
              </a:rPr>
              <a:t> </a:t>
            </a:r>
            <a:r>
              <a:rPr lang="en-US" dirty="0" err="1">
                <a:latin typeface="Calibri"/>
                <a:ea typeface="Calibri"/>
                <a:cs typeface="Calibri"/>
              </a:rPr>
              <a:t>védelem</a:t>
            </a:r>
            <a:r>
              <a:rPr lang="en-US" dirty="0">
                <a:latin typeface="Calibri"/>
                <a:ea typeface="Calibri"/>
                <a:cs typeface="Calibri"/>
              </a:rPr>
              <a:t> </a:t>
            </a:r>
            <a:r>
              <a:rPr lang="en-US" dirty="0" err="1">
                <a:latin typeface="Calibri"/>
                <a:ea typeface="Calibri"/>
                <a:cs typeface="Calibri"/>
              </a:rPr>
              <a:t>konfigurálása</a:t>
            </a:r>
            <a:r>
              <a:rPr lang="en-US" dirty="0">
                <a:latin typeface="Calibri"/>
                <a:ea typeface="Calibri"/>
                <a:cs typeface="Calibri"/>
              </a:rPr>
              <a:t>, </a:t>
            </a:r>
            <a:r>
              <a:rPr lang="en-US" dirty="0" err="1">
                <a:latin typeface="Calibri"/>
                <a:ea typeface="Calibri"/>
                <a:cs typeface="Calibri"/>
              </a:rPr>
              <a:t>új</a:t>
            </a:r>
            <a:r>
              <a:rPr lang="en-US" dirty="0">
                <a:latin typeface="Calibri"/>
                <a:ea typeface="Calibri"/>
                <a:cs typeface="Calibri"/>
              </a:rPr>
              <a:t> </a:t>
            </a:r>
            <a:r>
              <a:rPr lang="en-US" dirty="0" err="1">
                <a:latin typeface="Calibri"/>
                <a:ea typeface="Calibri"/>
                <a:cs typeface="Calibri"/>
              </a:rPr>
              <a:t>városok</a:t>
            </a:r>
            <a:r>
              <a:rPr lang="en-US" dirty="0">
                <a:latin typeface="Calibri"/>
                <a:ea typeface="Calibri"/>
                <a:cs typeface="Calibri"/>
              </a:rPr>
              <a:t> </a:t>
            </a:r>
            <a:r>
              <a:rPr lang="en-US" dirty="0" err="1">
                <a:latin typeface="Calibri"/>
                <a:ea typeface="Calibri"/>
                <a:cs typeface="Calibri"/>
              </a:rPr>
              <a:t>beépítése</a:t>
            </a:r>
            <a:r>
              <a:rPr lang="en-US" dirty="0">
                <a:latin typeface="Calibri"/>
                <a:ea typeface="Calibri"/>
                <a:cs typeface="Calibri"/>
              </a:rPr>
              <a:t> a </a:t>
            </a:r>
            <a:r>
              <a:rPr lang="en-US" dirty="0" err="1">
                <a:latin typeface="Calibri"/>
                <a:ea typeface="Calibri"/>
                <a:cs typeface="Calibri"/>
              </a:rPr>
              <a:t>hálózatba</a:t>
            </a:r>
            <a:r>
              <a:rPr lang="en-US" dirty="0">
                <a:latin typeface="Calibri"/>
                <a:ea typeface="Calibri"/>
                <a:cs typeface="Calibri"/>
              </a:rPr>
              <a:t> </a:t>
            </a:r>
            <a:r>
              <a:rPr lang="en-US" dirty="0" err="1">
                <a:latin typeface="Calibri"/>
                <a:ea typeface="Calibri"/>
                <a:cs typeface="Calibri"/>
              </a:rPr>
              <a:t>és</a:t>
            </a:r>
            <a:r>
              <a:rPr lang="en-US" dirty="0">
                <a:latin typeface="Calibri"/>
                <a:ea typeface="Calibri"/>
                <a:cs typeface="Calibri"/>
              </a:rPr>
              <a:t> </a:t>
            </a:r>
            <a:r>
              <a:rPr lang="en-US" dirty="0" err="1">
                <a:latin typeface="Calibri"/>
                <a:ea typeface="Calibri"/>
                <a:cs typeface="Calibri"/>
              </a:rPr>
              <a:t>új</a:t>
            </a:r>
            <a:r>
              <a:rPr lang="en-US" dirty="0">
                <a:latin typeface="Calibri"/>
                <a:ea typeface="Calibri"/>
                <a:cs typeface="Calibri"/>
              </a:rPr>
              <a:t> </a:t>
            </a:r>
            <a:r>
              <a:rPr lang="en-US" dirty="0" err="1">
                <a:latin typeface="Calibri"/>
                <a:ea typeface="Calibri"/>
                <a:cs typeface="Calibri"/>
              </a:rPr>
              <a:t>szobák</a:t>
            </a:r>
            <a:r>
              <a:rPr lang="en-US" dirty="0">
                <a:latin typeface="Calibri"/>
                <a:ea typeface="Calibri"/>
                <a:cs typeface="Calibri"/>
              </a:rPr>
              <a:t> </a:t>
            </a:r>
            <a:r>
              <a:rPr lang="en-US" dirty="0" err="1">
                <a:latin typeface="Calibri"/>
                <a:ea typeface="Calibri"/>
                <a:cs typeface="Calibri"/>
              </a:rPr>
              <a:t>létrehozása</a:t>
            </a:r>
            <a:r>
              <a:rPr lang="en-US" dirty="0">
                <a:latin typeface="Calibri"/>
                <a:ea typeface="Calibri"/>
                <a:cs typeface="Calibri"/>
              </a:rPr>
              <a:t>. </a:t>
            </a:r>
            <a:r>
              <a:rPr lang="en-US" dirty="0" err="1">
                <a:latin typeface="Calibri"/>
                <a:ea typeface="Calibri"/>
                <a:cs typeface="Calibri"/>
              </a:rPr>
              <a:t>Modernebb</a:t>
            </a:r>
            <a:r>
              <a:rPr lang="en-US" dirty="0">
                <a:latin typeface="Calibri"/>
                <a:ea typeface="Calibri"/>
                <a:cs typeface="Calibri"/>
              </a:rPr>
              <a:t> </a:t>
            </a:r>
            <a:r>
              <a:rPr lang="en-US" dirty="0" err="1">
                <a:latin typeface="Calibri"/>
                <a:ea typeface="Calibri"/>
                <a:cs typeface="Calibri"/>
              </a:rPr>
              <a:t>hálózati</a:t>
            </a:r>
            <a:r>
              <a:rPr lang="en-US" dirty="0">
                <a:latin typeface="Calibri"/>
                <a:ea typeface="Calibri"/>
                <a:cs typeface="Calibri"/>
              </a:rPr>
              <a:t> </a:t>
            </a:r>
            <a:r>
              <a:rPr lang="en-US" dirty="0" err="1">
                <a:latin typeface="Calibri"/>
                <a:ea typeface="Calibri"/>
                <a:cs typeface="Calibri"/>
              </a:rPr>
              <a:t>eszközök</a:t>
            </a:r>
            <a:r>
              <a:rPr lang="en-US" dirty="0">
                <a:latin typeface="Calibri"/>
                <a:ea typeface="Calibri"/>
                <a:cs typeface="Calibri"/>
              </a:rPr>
              <a:t> </a:t>
            </a:r>
            <a:r>
              <a:rPr lang="en-US" dirty="0" err="1">
                <a:latin typeface="Calibri"/>
                <a:ea typeface="Calibri"/>
                <a:cs typeface="Calibri"/>
              </a:rPr>
              <a:t>fejlesztése</a:t>
            </a:r>
          </a:p>
        </p:txBody>
      </p:sp>
      <p:sp>
        <p:nvSpPr>
          <p:cNvPr id="4" name="Slide Number Placeholder 3"/>
          <p:cNvSpPr>
            <a:spLocks noGrp="1"/>
          </p:cNvSpPr>
          <p:nvPr>
            <p:ph type="sldNum" sz="quarter" idx="5"/>
          </p:nvPr>
        </p:nvSpPr>
        <p:spPr/>
        <p:txBody>
          <a:bodyPr/>
          <a:lstStyle/>
          <a:p>
            <a:fld id="{1DC7ED40-DFCB-457A-B7BD-21BAE0EE2A3D}" type="slidenum">
              <a:rPr lang="hu-HU" smtClean="0"/>
              <a:t>9</a:t>
            </a:fld>
            <a:endParaRPr lang="hu-HU"/>
          </a:p>
        </p:txBody>
      </p:sp>
    </p:spTree>
    <p:extLst>
      <p:ext uri="{BB962C8B-B14F-4D97-AF65-F5344CB8AC3E}">
        <p14:creationId xmlns:p14="http://schemas.microsoft.com/office/powerpoint/2010/main" val="2749944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Jira</a:t>
            </a:r>
            <a:r>
              <a:rPr lang="hu-HU" dirty="0"/>
              <a:t> használtunk a feladatokhoz, hogy tudjuk hogy milyen feladatok vannak, ki milyen feladatot </a:t>
            </a:r>
            <a:r>
              <a:rPr lang="hu-HU" dirty="0" err="1"/>
              <a:t>csinal</a:t>
            </a:r>
            <a:r>
              <a:rPr lang="hu-HU" dirty="0"/>
              <a:t>, es mennyi időt tölt el a feladatokkal mindenki, ezért volt fontos az órákat </a:t>
            </a:r>
            <a:r>
              <a:rPr lang="hu-HU" dirty="0" err="1"/>
              <a:t>logolni</a:t>
            </a:r>
            <a:r>
              <a:rPr lang="hu-HU" dirty="0"/>
              <a:t> minden feladatnál. </a:t>
            </a:r>
            <a:r>
              <a:rPr lang="hu-HU" dirty="0" err="1"/>
              <a:t>stb</a:t>
            </a:r>
            <a:endParaRPr lang="hu-HU" dirty="0"/>
          </a:p>
        </p:txBody>
      </p:sp>
      <p:sp>
        <p:nvSpPr>
          <p:cNvPr id="4" name="Dia számának helye 3"/>
          <p:cNvSpPr>
            <a:spLocks noGrp="1"/>
          </p:cNvSpPr>
          <p:nvPr>
            <p:ph type="sldNum" sz="quarter" idx="5"/>
          </p:nvPr>
        </p:nvSpPr>
        <p:spPr/>
        <p:txBody>
          <a:bodyPr/>
          <a:lstStyle/>
          <a:p>
            <a:fld id="{1DC7ED40-DFCB-457A-B7BD-21BAE0EE2A3D}" type="slidenum">
              <a:rPr lang="hu-HU" smtClean="0"/>
              <a:t>10</a:t>
            </a:fld>
            <a:endParaRPr lang="hu-HU"/>
          </a:p>
        </p:txBody>
      </p:sp>
    </p:spTree>
    <p:extLst>
      <p:ext uri="{BB962C8B-B14F-4D97-AF65-F5344CB8AC3E}">
        <p14:creationId xmlns:p14="http://schemas.microsoft.com/office/powerpoint/2010/main" val="2762494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Gitet</a:t>
            </a:r>
            <a:r>
              <a:rPr lang="hu-HU" dirty="0"/>
              <a:t> használtunk ahova feltöltöttük a dolgokat hogy ne vesszenek el, </a:t>
            </a:r>
            <a:r>
              <a:rPr lang="hu-HU" dirty="0" err="1"/>
              <a:t>pl</a:t>
            </a:r>
            <a:r>
              <a:rPr lang="hu-HU" dirty="0"/>
              <a:t> ha véletlen törlődnek akkor meglegyenek ugyanúgy itt, ide mentettünk el minden fájlt és ha frissült akkor ide is kicseréltük az </a:t>
            </a:r>
            <a:r>
              <a:rPr lang="hu-HU" dirty="0" err="1"/>
              <a:t>ujra</a:t>
            </a:r>
            <a:r>
              <a:rPr lang="hu-HU" dirty="0"/>
              <a:t>. </a:t>
            </a:r>
            <a:r>
              <a:rPr lang="hu-HU" dirty="0" err="1"/>
              <a:t>stb</a:t>
            </a:r>
            <a:endParaRPr lang="hu-HU" dirty="0"/>
          </a:p>
        </p:txBody>
      </p:sp>
      <p:sp>
        <p:nvSpPr>
          <p:cNvPr id="4" name="Dia számának helye 3"/>
          <p:cNvSpPr>
            <a:spLocks noGrp="1"/>
          </p:cNvSpPr>
          <p:nvPr>
            <p:ph type="sldNum" sz="quarter" idx="5"/>
          </p:nvPr>
        </p:nvSpPr>
        <p:spPr/>
        <p:txBody>
          <a:bodyPr/>
          <a:lstStyle/>
          <a:p>
            <a:fld id="{1DC7ED40-DFCB-457A-B7BD-21BAE0EE2A3D}" type="slidenum">
              <a:rPr lang="hu-HU" smtClean="0"/>
              <a:t>11</a:t>
            </a:fld>
            <a:endParaRPr lang="hu-HU"/>
          </a:p>
        </p:txBody>
      </p:sp>
    </p:spTree>
    <p:extLst>
      <p:ext uri="{BB962C8B-B14F-4D97-AF65-F5344CB8AC3E}">
        <p14:creationId xmlns:p14="http://schemas.microsoft.com/office/powerpoint/2010/main" val="144960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Excel táblázatba teszteltünk </a:t>
            </a:r>
            <a:r>
              <a:rPr lang="hu-HU" dirty="0" err="1"/>
              <a:t>midnent</a:t>
            </a:r>
            <a:r>
              <a:rPr lang="hu-HU" dirty="0"/>
              <a:t>, hogy tudjuk hogy minden működik e, ezt itt feljegyeztük, és ha </a:t>
            </a:r>
            <a:r>
              <a:rPr lang="hu-HU" dirty="0" err="1"/>
              <a:t>bug</a:t>
            </a:r>
            <a:r>
              <a:rPr lang="hu-HU" dirty="0"/>
              <a:t> volt valahol akkor </a:t>
            </a:r>
            <a:r>
              <a:rPr lang="hu-HU" dirty="0" err="1"/>
              <a:t>jiraba</a:t>
            </a:r>
            <a:r>
              <a:rPr lang="hu-HU" dirty="0"/>
              <a:t> </a:t>
            </a:r>
            <a:r>
              <a:rPr lang="hu-HU" dirty="0" err="1"/>
              <a:t>csinaltunk</a:t>
            </a:r>
            <a:r>
              <a:rPr lang="hu-HU" dirty="0"/>
              <a:t> egy </a:t>
            </a:r>
            <a:r>
              <a:rPr lang="hu-HU" dirty="0" err="1"/>
              <a:t>taskot</a:t>
            </a:r>
            <a:r>
              <a:rPr lang="hu-HU" dirty="0"/>
              <a:t> neki hogy tudjuk hogy </a:t>
            </a:r>
            <a:r>
              <a:rPr lang="hu-HU" dirty="0" err="1"/>
              <a:t>kijavitottuk</a:t>
            </a:r>
            <a:r>
              <a:rPr lang="hu-HU" dirty="0"/>
              <a:t> e. nagyon fontos része volt a projektnek a tesztelés! </a:t>
            </a:r>
            <a:r>
              <a:rPr lang="hu-HU" dirty="0" err="1"/>
              <a:t>stb</a:t>
            </a:r>
            <a:endParaRPr lang="hu-HU" dirty="0"/>
          </a:p>
        </p:txBody>
      </p:sp>
      <p:sp>
        <p:nvSpPr>
          <p:cNvPr id="4" name="Dia számának helye 3"/>
          <p:cNvSpPr>
            <a:spLocks noGrp="1"/>
          </p:cNvSpPr>
          <p:nvPr>
            <p:ph type="sldNum" sz="quarter" idx="5"/>
          </p:nvPr>
        </p:nvSpPr>
        <p:spPr/>
        <p:txBody>
          <a:bodyPr/>
          <a:lstStyle/>
          <a:p>
            <a:fld id="{1DC7ED40-DFCB-457A-B7BD-21BAE0EE2A3D}" type="slidenum">
              <a:rPr lang="hu-HU" smtClean="0"/>
              <a:t>12</a:t>
            </a:fld>
            <a:endParaRPr lang="hu-HU"/>
          </a:p>
        </p:txBody>
      </p:sp>
    </p:spTree>
    <p:extLst>
      <p:ext uri="{BB962C8B-B14F-4D97-AF65-F5344CB8AC3E}">
        <p14:creationId xmlns:p14="http://schemas.microsoft.com/office/powerpoint/2010/main" val="557923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Ezen a diagramon van hogy eddig ki mennyi időt töltött el a projekttel. </a:t>
            </a:r>
          </a:p>
        </p:txBody>
      </p:sp>
      <p:sp>
        <p:nvSpPr>
          <p:cNvPr id="4" name="Dia számának helye 3"/>
          <p:cNvSpPr>
            <a:spLocks noGrp="1"/>
          </p:cNvSpPr>
          <p:nvPr>
            <p:ph type="sldNum" sz="quarter" idx="5"/>
          </p:nvPr>
        </p:nvSpPr>
        <p:spPr/>
        <p:txBody>
          <a:bodyPr/>
          <a:lstStyle/>
          <a:p>
            <a:fld id="{1DC7ED40-DFCB-457A-B7BD-21BAE0EE2A3D}" type="slidenum">
              <a:rPr lang="hu-HU" smtClean="0"/>
              <a:t>13</a:t>
            </a:fld>
            <a:endParaRPr lang="hu-HU" dirty="0"/>
          </a:p>
        </p:txBody>
      </p:sp>
    </p:spTree>
    <p:extLst>
      <p:ext uri="{BB962C8B-B14F-4D97-AF65-F5344CB8AC3E}">
        <p14:creationId xmlns:p14="http://schemas.microsoft.com/office/powerpoint/2010/main" val="2018294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fld id="{1DC7ED40-DFCB-457A-B7BD-21BAE0EE2A3D}" type="slidenum">
              <a:rPr lang="hu-HU" smtClean="0"/>
              <a:t>14</a:t>
            </a:fld>
            <a:endParaRPr lang="hu-HU"/>
          </a:p>
        </p:txBody>
      </p:sp>
    </p:spTree>
    <p:extLst>
      <p:ext uri="{BB962C8B-B14F-4D97-AF65-F5344CB8AC3E}">
        <p14:creationId xmlns:p14="http://schemas.microsoft.com/office/powerpoint/2010/main" val="94453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D6ABD-28BC-F4ED-F4AF-2B3A29E8C0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77476C-94B7-8CE4-F36D-2C85FC9EAB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E2ADBA-2065-0CB6-BD6E-A080681A7DCA}"/>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9B3CCE90-F43F-1AF9-A05F-453401328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16F841-A788-4D84-84C0-A4790FFD2D2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3181355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1FAA-F44D-E19F-8955-4446D09689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5F0C8B-A678-AF86-0F17-43200C8442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8D96A-3D20-C3F0-1F36-F6BD68BD633E}"/>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A92297E2-56CE-B05C-BE34-F825FCD622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FA88B-C0AB-497D-3FC7-C13C7D0E07AF}"/>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3064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3C726-77D4-8741-523E-DC82F48163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97CACF-76AF-AB00-9086-490C00DD21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2ACC23-15C9-B4C6-BA8B-BCC4B7BEC15A}"/>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A2769CA6-6280-1248-EDA4-D2A00326B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AFB19A-2B1F-7E35-21C9-C64B909E31B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73408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1A0DC-DB2D-D6CE-39C5-819C51A53E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17C860-7CDD-595F-D5B2-7E74218B5E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A8258D-E16E-B025-FFAE-B0BD39461A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C31AC-0FFB-C805-081C-D9F409FF33BC}"/>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6" name="Footer Placeholder 5">
            <a:extLst>
              <a:ext uri="{FF2B5EF4-FFF2-40B4-BE49-F238E27FC236}">
                <a16:creationId xmlns:a16="http://schemas.microsoft.com/office/drawing/2014/main" id="{ABC2D356-8D54-0D69-4FB9-C9FA697039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5FD5FA-37CC-3A0F-1240-20C2F4101788}"/>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226362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086A-6D11-88F1-7F79-8218B23DEC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97DFD3-8DAC-DF65-862E-D835A80222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63F04-121C-16BF-E2C5-94890E124D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8CD77D-3730-7F17-AFAD-77141CE51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4CF605-B943-07B6-69D5-6CCCDF4DEF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74D609-82BA-5A1A-D98C-10AC2ECCC6C4}"/>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8" name="Footer Placeholder 7">
            <a:extLst>
              <a:ext uri="{FF2B5EF4-FFF2-40B4-BE49-F238E27FC236}">
                <a16:creationId xmlns:a16="http://schemas.microsoft.com/office/drawing/2014/main" id="{AC0CC317-0E63-8A22-3129-120D5FBC04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F0E11B-2F15-F2DB-16EA-D84957631DEE}"/>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960743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6E9DC-56C3-26BA-5990-DA4932A2F1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4F01AF-1038-59B9-DBBE-6B25BF72FB79}"/>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4" name="Footer Placeholder 3">
            <a:extLst>
              <a:ext uri="{FF2B5EF4-FFF2-40B4-BE49-F238E27FC236}">
                <a16:creationId xmlns:a16="http://schemas.microsoft.com/office/drawing/2014/main" id="{B88497A8-3BB2-4F2F-1796-735DB2FB91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E805F4-937C-4D14-B25A-8099318EE2F9}"/>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048501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BC4CC4-6CD2-F0CC-76CA-F83C0D01008A}"/>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3" name="Footer Placeholder 2">
            <a:extLst>
              <a:ext uri="{FF2B5EF4-FFF2-40B4-BE49-F238E27FC236}">
                <a16:creationId xmlns:a16="http://schemas.microsoft.com/office/drawing/2014/main" id="{C6410DC3-E1E2-D737-9A5A-1228CABBB3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83AF27-A575-01A8-BB56-0269E082BF34}"/>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955737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BE05B-93EE-84CB-9AD3-8F6F63B209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3AC43B-158D-3C16-AD82-C361600601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95D77E-9F1A-FA8B-73A2-E74195FF8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62189-1E13-14E8-F038-96178048A582}"/>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6" name="Footer Placeholder 5">
            <a:extLst>
              <a:ext uri="{FF2B5EF4-FFF2-40B4-BE49-F238E27FC236}">
                <a16:creationId xmlns:a16="http://schemas.microsoft.com/office/drawing/2014/main" id="{12F11463-9067-1ADA-C8FA-1857350927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5BF916-F0EA-B828-BFC2-51CB56D51210}"/>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55414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6B419-D516-602D-54C4-6F436FD416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390DC1-851A-FDAC-6FC7-454C578607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9B654F-5A25-C8AD-142B-94400F0E69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5B48F-FBD7-6620-B247-6DBF49B2E3E4}"/>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6" name="Footer Placeholder 5">
            <a:extLst>
              <a:ext uri="{FF2B5EF4-FFF2-40B4-BE49-F238E27FC236}">
                <a16:creationId xmlns:a16="http://schemas.microsoft.com/office/drawing/2014/main" id="{46653BD0-79E1-BDFA-5A89-86BA188EEC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A10B97-DC94-8407-88F7-F9917F2A1D5B}"/>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57209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45027-B512-363B-873D-6136766615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404C80-74E4-9A90-1473-C92BAD0F5C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A15D21-9E82-26D2-53DE-B971246E2B1C}"/>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8BA8A432-2191-F6BF-5226-5EF021DCD1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39B18-9F05-45AA-0A8E-A3CBB6D17556}"/>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62770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2DAB40-096E-B7CC-627A-7135EE2128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B6ABC8-60AD-1349-71A1-E1C8A98BC2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BB4A09-6FEF-C0C8-E5D8-67B7E92FD85E}"/>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EFA2FB72-AD0B-D1D0-87CA-324315D69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86D4B-19EB-F2D7-8943-E94B089A3FA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4747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337D6-5488-BC53-3908-3426C320B4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2BA013-8838-4925-A0D2-F3304433BA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A8E2E-5A4B-C7A5-7F73-F26E084DA1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4E8E50AE-8938-BCC6-ACB0-7EA31478EF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CAD55FA-B0E3-9267-CC33-1FF9496E3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445DCE-8874-406F-89F7-75B47656E45E}" type="slidenum">
              <a:rPr lang="en-US" smtClean="0"/>
              <a:t>‹#›</a:t>
            </a:fld>
            <a:endParaRPr lang="en-US"/>
          </a:p>
        </p:txBody>
      </p:sp>
    </p:spTree>
    <p:extLst>
      <p:ext uri="{BB962C8B-B14F-4D97-AF65-F5344CB8AC3E}">
        <p14:creationId xmlns:p14="http://schemas.microsoft.com/office/powerpoint/2010/main" val="18501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5.png"/><Relationship Id="rId7" Type="http://schemas.openxmlformats.org/officeDocument/2006/relationships/diagramColors" Target="../diagrams/colors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8D29A047-B710-3D32-169B-B5D9BFDED0EB}"/>
              </a:ext>
            </a:extLst>
          </p:cNvPr>
          <p:cNvPicPr>
            <a:picLocks noChangeAspect="1"/>
          </p:cNvPicPr>
          <p:nvPr/>
        </p:nvPicPr>
        <p:blipFill>
          <a:blip r:embed="rId2">
            <a:alphaModFix amt="50000"/>
          </a:blip>
          <a:srcRect t="12295" b="116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F4BE3EEF-28FD-DF6B-3261-577AC82744FB}"/>
              </a:ext>
            </a:extLst>
          </p:cNvPr>
          <p:cNvSpPr>
            <a:spLocks noGrp="1"/>
          </p:cNvSpPr>
          <p:nvPr>
            <p:ph type="ctrTitle"/>
          </p:nvPr>
        </p:nvSpPr>
        <p:spPr>
          <a:xfrm>
            <a:off x="1524000" y="1122362"/>
            <a:ext cx="9144000" cy="2900518"/>
          </a:xfrm>
        </p:spPr>
        <p:txBody>
          <a:bodyPr>
            <a:normAutofit/>
          </a:bodyPr>
          <a:lstStyle/>
          <a:p>
            <a:r>
              <a:rPr lang="en-US" b="1" dirty="0">
                <a:solidFill>
                  <a:srgbClr val="FFFFFF"/>
                </a:solidFill>
                <a:highlight>
                  <a:srgbClr val="000000"/>
                </a:highlight>
              </a:rPr>
              <a:t>Stake </a:t>
            </a:r>
            <a:r>
              <a:rPr lang="en-US" b="1" dirty="0" err="1">
                <a:solidFill>
                  <a:srgbClr val="FFFFFF"/>
                </a:solidFill>
                <a:highlight>
                  <a:srgbClr val="000000"/>
                </a:highlight>
              </a:rPr>
              <a:t>kaszinó</a:t>
            </a:r>
            <a:endParaRPr lang="en-US" b="1">
              <a:solidFill>
                <a:srgbClr val="FFFFFF"/>
              </a:solidFill>
              <a:highlight>
                <a:srgbClr val="000000"/>
              </a:highlight>
            </a:endParaRPr>
          </a:p>
        </p:txBody>
      </p:sp>
      <p:sp>
        <p:nvSpPr>
          <p:cNvPr id="3" name="Subtitle 2">
            <a:extLst>
              <a:ext uri="{FF2B5EF4-FFF2-40B4-BE49-F238E27FC236}">
                <a16:creationId xmlns:a16="http://schemas.microsoft.com/office/drawing/2014/main" id="{CEAEC1DD-CC28-8F1C-F021-DC65F927AD17}"/>
              </a:ext>
            </a:extLst>
          </p:cNvPr>
          <p:cNvSpPr>
            <a:spLocks noGrp="1"/>
          </p:cNvSpPr>
          <p:nvPr>
            <p:ph type="subTitle" idx="1"/>
          </p:nvPr>
        </p:nvSpPr>
        <p:spPr>
          <a:xfrm>
            <a:off x="1524000" y="4159404"/>
            <a:ext cx="9144000" cy="1098395"/>
          </a:xfrm>
        </p:spPr>
        <p:txBody>
          <a:bodyPr>
            <a:normAutofit/>
          </a:bodyPr>
          <a:lstStyle/>
          <a:p>
            <a:r>
              <a:rPr lang="en-US" b="1">
                <a:solidFill>
                  <a:srgbClr val="FFFFFF"/>
                </a:solidFill>
              </a:rPr>
              <a:t>Haramia</a:t>
            </a:r>
            <a:r>
              <a:rPr lang="en-US" b="1" dirty="0">
                <a:solidFill>
                  <a:srgbClr val="FFFFFF"/>
                </a:solidFill>
              </a:rPr>
              <a:t> Balázs</a:t>
            </a:r>
            <a:r>
              <a:rPr lang="en-US" dirty="0">
                <a:solidFill>
                  <a:srgbClr val="FFFFFF"/>
                </a:solidFill>
              </a:rPr>
              <a:t>, Farkas Kristóf, Müller János</a:t>
            </a:r>
          </a:p>
        </p:txBody>
      </p:sp>
    </p:spTree>
    <p:extLst>
      <p:ext uri="{BB962C8B-B14F-4D97-AF65-F5344CB8AC3E}">
        <p14:creationId xmlns:p14="http://schemas.microsoft.com/office/powerpoint/2010/main" val="17728444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5" descr="Stake Casino Review 2022 Leading Crypto Gambling Site | Casinos.info">
            <a:extLst>
              <a:ext uri="{FF2B5EF4-FFF2-40B4-BE49-F238E27FC236}">
                <a16:creationId xmlns:a16="http://schemas.microsoft.com/office/drawing/2014/main" id="{F8547072-1863-34E2-C6EC-2935FC52F907}"/>
              </a:ext>
            </a:extLst>
          </p:cNvPr>
          <p:cNvPicPr>
            <a:picLocks noChangeAspect="1" noChangeArrowheads="1"/>
          </p:cNvPicPr>
          <p:nvPr/>
        </p:nvPicPr>
        <p:blipFill>
          <a:blip r:embed="rId3">
            <a:duotone>
              <a:prstClr val="black"/>
              <a:schemeClr val="tx2">
                <a:tint val="45000"/>
                <a:satMod val="400000"/>
              </a:schemeClr>
            </a:duotone>
            <a:alphaModFix amt="25000"/>
            <a:extLst>
              <a:ext uri="{28A0092B-C50C-407E-A947-70E740481C1C}">
                <a14:useLocalDpi xmlns:a14="http://schemas.microsoft.com/office/drawing/2010/main" val="0"/>
              </a:ext>
            </a:extLst>
          </a:blip>
          <a:srcRect t="6506" b="5946"/>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838200" y="365125"/>
            <a:ext cx="10515600" cy="1325563"/>
          </a:xfrm>
        </p:spPr>
        <p:txBody>
          <a:bodyPr>
            <a:normAutofit/>
          </a:bodyPr>
          <a:lstStyle/>
          <a:p>
            <a:r>
              <a:rPr lang="hu-HU" sz="6000" dirty="0">
                <a:highlight>
                  <a:srgbClr val="000000"/>
                </a:highlight>
                <a:latin typeface="Brush Script MT" panose="03060802040406070304" pitchFamily="66" charset="0"/>
              </a:rPr>
              <a:t>Stake</a:t>
            </a:r>
            <a:r>
              <a:rPr lang="hu-HU" dirty="0">
                <a:highlight>
                  <a:srgbClr val="000000"/>
                </a:highlight>
              </a:rPr>
              <a:t> </a:t>
            </a:r>
            <a:r>
              <a:rPr lang="hu-HU" sz="3500" dirty="0">
                <a:highlight>
                  <a:srgbClr val="000000"/>
                </a:highlight>
                <a:latin typeface="Agency FB" panose="020B0503020202020204" pitchFamily="34" charset="0"/>
              </a:rPr>
              <a:t>Hálózat Bemutatása</a:t>
            </a:r>
            <a:endParaRPr lang="en-US" sz="3500" dirty="0">
              <a:highlight>
                <a:srgbClr val="000000"/>
              </a:highlight>
              <a:latin typeface="Agency FB" panose="020B0503020202020204" pitchFamily="34" charset="0"/>
            </a:endParaRPr>
          </a:p>
        </p:txBody>
      </p:sp>
      <p:graphicFrame>
        <p:nvGraphicFramePr>
          <p:cNvPr id="1040" name="Rectangle 3">
            <a:extLst>
              <a:ext uri="{FF2B5EF4-FFF2-40B4-BE49-F238E27FC236}">
                <a16:creationId xmlns:a16="http://schemas.microsoft.com/office/drawing/2014/main" id="{C6EC139D-E0A2-CEBE-1DA6-E716FB32D56D}"/>
              </a:ext>
            </a:extLst>
          </p:cNvPr>
          <p:cNvGraphicFramePr>
            <a:graphicFrameLocks noGrp="1"/>
          </p:cNvGraphicFramePr>
          <p:nvPr>
            <p:ph idx="1"/>
            <p:extLst>
              <p:ext uri="{D42A27DB-BD31-4B8C-83A1-F6EECF244321}">
                <p14:modId xmlns:p14="http://schemas.microsoft.com/office/powerpoint/2010/main" val="22851187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1374447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6" name="Rectangle 105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1137034" y="609597"/>
            <a:ext cx="9392421" cy="1330841"/>
          </a:xfrm>
        </p:spPr>
        <p:txBody>
          <a:bodyPr>
            <a:normAutofit/>
          </a:bodyPr>
          <a:lstStyle/>
          <a:p>
            <a:r>
              <a:rPr lang="en-US" dirty="0">
                <a:solidFill>
                  <a:schemeClr val="bg1"/>
                </a:solidFill>
                <a:highlight>
                  <a:srgbClr val="000000"/>
                </a:highlight>
                <a:latin typeface="Agency FB" panose="020B0503020202020204" pitchFamily="34" charset="0"/>
              </a:rPr>
              <a:t>A</a:t>
            </a:r>
            <a:r>
              <a:rPr lang="en-US" dirty="0">
                <a:solidFill>
                  <a:schemeClr val="bg1"/>
                </a:solidFill>
                <a:highlight>
                  <a:srgbClr val="000000"/>
                </a:highlight>
              </a:rPr>
              <a:t> </a:t>
            </a:r>
            <a:r>
              <a:rPr lang="en-US" dirty="0">
                <a:solidFill>
                  <a:schemeClr val="bg1"/>
                </a:solidFill>
                <a:highlight>
                  <a:srgbClr val="000000"/>
                </a:highlight>
                <a:latin typeface="Brush Script MT" panose="03060802040406070304" pitchFamily="66" charset="0"/>
              </a:rPr>
              <a:t>Stake</a:t>
            </a:r>
            <a:r>
              <a:rPr lang="en-US" dirty="0">
                <a:solidFill>
                  <a:schemeClr val="bg1"/>
                </a:solidFill>
                <a:highlight>
                  <a:srgbClr val="000000"/>
                </a:highlight>
              </a:rPr>
              <a:t> </a:t>
            </a:r>
            <a:r>
              <a:rPr lang="en-US" dirty="0" err="1">
                <a:solidFill>
                  <a:schemeClr val="bg1"/>
                </a:solidFill>
                <a:highlight>
                  <a:srgbClr val="000000"/>
                </a:highlight>
                <a:latin typeface="Agency FB" panose="020B0503020202020204" pitchFamily="34" charset="0"/>
              </a:rPr>
              <a:t>csapat</a:t>
            </a:r>
            <a:endParaRPr lang="en-US" dirty="0">
              <a:solidFill>
                <a:schemeClr val="bg1"/>
              </a:solidFill>
              <a:highlight>
                <a:srgbClr val="000000"/>
              </a:highlight>
              <a:latin typeface="Agency FB" panose="020B0503020202020204" pitchFamily="34" charset="0"/>
            </a:endParaRPr>
          </a:p>
        </p:txBody>
      </p:sp>
      <p:sp>
        <p:nvSpPr>
          <p:cNvPr id="6" name="Rectangle 3">
            <a:extLst>
              <a:ext uri="{FF2B5EF4-FFF2-40B4-BE49-F238E27FC236}">
                <a16:creationId xmlns:a16="http://schemas.microsoft.com/office/drawing/2014/main" id="{048AF700-0F78-C33E-C4F4-112A8637E692}"/>
              </a:ext>
            </a:extLst>
          </p:cNvPr>
          <p:cNvSpPr>
            <a:spLocks noGrp="1" noChangeArrowheads="1"/>
          </p:cNvSpPr>
          <p:nvPr>
            <p:ph idx="1"/>
          </p:nvPr>
        </p:nvSpPr>
        <p:spPr bwMode="auto">
          <a:xfrm>
            <a:off x="1137034" y="2198362"/>
            <a:ext cx="4958966"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b="1" dirty="0">
                <a:latin typeface="Arial" panose="020B0604020202020204" pitchFamily="34" charset="0"/>
              </a:rPr>
              <a:t> </a:t>
            </a:r>
            <a:r>
              <a:rPr lang="hu-HU" altLang="en-US" sz="3000" b="1" dirty="0">
                <a:latin typeface="Arial" panose="020B0604020202020204" pitchFamily="34" charset="0"/>
              </a:rPr>
              <a:t>Haramia Balázs (</a:t>
            </a:r>
            <a:r>
              <a:rPr lang="hu-HU" altLang="en-US" sz="3000" b="1" dirty="0">
                <a:solidFill>
                  <a:srgbClr val="FF0000"/>
                </a:solidFill>
                <a:latin typeface="Arial" panose="020B0604020202020204" pitchFamily="34" charset="0"/>
              </a:rPr>
              <a:t>PM</a:t>
            </a:r>
            <a:r>
              <a:rPr lang="hu-HU" altLang="en-US" sz="3000" b="1" dirty="0">
                <a:latin typeface="Arial" panose="020B0604020202020204" pitchFamily="34" charset="0"/>
              </a:rPr>
              <a:t>)</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3000"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3000" b="0" i="0" u="none" strike="noStrike" cap="none" normalizeH="0" baseline="0" dirty="0">
                <a:ln>
                  <a:noFill/>
                </a:ln>
                <a:effectLst/>
                <a:latin typeface="Arial" panose="020B0604020202020204" pitchFamily="34" charset="0"/>
              </a:rPr>
              <a:t> </a:t>
            </a:r>
            <a:r>
              <a:rPr kumimoji="0" lang="hu-HU" altLang="en-US" sz="3000" b="0" i="0" u="none" strike="noStrike" cap="none" normalizeH="0" baseline="0" dirty="0">
                <a:ln>
                  <a:noFill/>
                </a:ln>
                <a:effectLst/>
                <a:latin typeface="Arial" panose="020B0604020202020204" pitchFamily="34" charset="0"/>
              </a:rPr>
              <a:t>Farkas Kristóf</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3000"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dirty="0">
                <a:latin typeface="Arial" panose="020B0604020202020204" pitchFamily="34" charset="0"/>
              </a:rPr>
              <a:t> </a:t>
            </a:r>
            <a:r>
              <a:rPr lang="hu-HU" altLang="en-US" sz="3000" dirty="0">
                <a:latin typeface="Arial" panose="020B0604020202020204" pitchFamily="34" charset="0"/>
              </a:rPr>
              <a:t>Müller  János</a:t>
            </a:r>
          </a:p>
        </p:txBody>
      </p:sp>
      <p:pic>
        <p:nvPicPr>
          <p:cNvPr id="1026" name="Picture 2" descr="K-State TRIO programs celebrate National TRIO Day">
            <a:extLst>
              <a:ext uri="{FF2B5EF4-FFF2-40B4-BE49-F238E27FC236}">
                <a16:creationId xmlns:a16="http://schemas.microsoft.com/office/drawing/2014/main" id="{68677801-6A84-DDDD-F43A-08A89A892EC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19367" y="2927312"/>
            <a:ext cx="4788505" cy="2271119"/>
          </a:xfrm>
          <a:prstGeom prst="rect">
            <a:avLst/>
          </a:prstGeom>
          <a:noFill/>
          <a:extLst>
            <a:ext uri="{909E8E84-426E-40DD-AFC4-6F175D3DCCD1}">
              <a14:hiddenFill xmlns:a14="http://schemas.microsoft.com/office/drawing/2010/main">
                <a:solidFill>
                  <a:srgbClr val="FFFFFF"/>
                </a:solidFill>
              </a14:hiddenFill>
            </a:ext>
          </a:extLst>
        </p:spPr>
      </p:pic>
      <p:sp>
        <p:nvSpPr>
          <p:cNvPr id="1060" name="Freeform: Shape 105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90246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3" name="Rectangle 104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630936" y="639520"/>
            <a:ext cx="3429000" cy="1719072"/>
          </a:xfrm>
        </p:spPr>
        <p:txBody>
          <a:bodyPr anchor="b">
            <a:normAutofit/>
          </a:bodyPr>
          <a:lstStyle/>
          <a:p>
            <a:r>
              <a:rPr lang="en-US" sz="3800" dirty="0" err="1">
                <a:solidFill>
                  <a:schemeClr val="bg1"/>
                </a:solidFill>
                <a:highlight>
                  <a:srgbClr val="000000"/>
                </a:highlight>
                <a:latin typeface="Agency FB" panose="020B0503020202020204" pitchFamily="34" charset="0"/>
              </a:rPr>
              <a:t>Áttekintés</a:t>
            </a:r>
            <a:endParaRPr lang="en-US" sz="3800" dirty="0">
              <a:solidFill>
                <a:schemeClr val="bg1"/>
              </a:solidFill>
              <a:highlight>
                <a:srgbClr val="000000"/>
              </a:highlight>
              <a:latin typeface="Agency FB" panose="020B0503020202020204" pitchFamily="34" charset="0"/>
            </a:endParaRPr>
          </a:p>
        </p:txBody>
      </p:sp>
      <p:sp>
        <p:nvSpPr>
          <p:cNvPr id="104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048AF700-0F78-C33E-C4F4-112A8637E692}"/>
              </a:ext>
            </a:extLst>
          </p:cNvPr>
          <p:cNvSpPr>
            <a:spLocks noGrp="1" noChangeArrowheads="1"/>
          </p:cNvSpPr>
          <p:nvPr>
            <p:ph idx="1"/>
          </p:nvPr>
        </p:nvSpPr>
        <p:spPr bwMode="auto">
          <a:xfrm>
            <a:off x="630936" y="2807208"/>
            <a:ext cx="3941064" cy="3410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1" u="none" strike="noStrike" cap="none" normalizeH="0" baseline="0" dirty="0">
                <a:ln>
                  <a:noFill/>
                </a:ln>
                <a:effectLst/>
                <a:latin typeface="Arial" panose="020B0604020202020204" pitchFamily="34" charset="0"/>
              </a:rPr>
              <a:t> 4</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város</a:t>
            </a:r>
            <a:r>
              <a:rPr kumimoji="0" lang="en-US" altLang="en-US" sz="2500" b="0" i="0" u="none" strike="noStrike" cap="none" normalizeH="0" baseline="0" dirty="0">
                <a:ln>
                  <a:noFill/>
                </a:ln>
                <a:effectLst/>
                <a:latin typeface="Arial" panose="020B0604020202020204" pitchFamily="34" charset="0"/>
              </a:rPr>
              <a:t>: </a:t>
            </a:r>
            <a:br>
              <a:rPr kumimoji="0" lang="en-US" altLang="en-US" sz="2500" b="0" i="0" u="none" strike="noStrike" cap="none" normalizeH="0" baseline="0" dirty="0">
                <a:ln>
                  <a:noFill/>
                </a:ln>
                <a:effectLst/>
                <a:latin typeface="Arial" panose="020B0604020202020204" pitchFamily="34" charset="0"/>
              </a:rPr>
            </a:br>
            <a:r>
              <a:rPr kumimoji="0" lang="en-US" altLang="en-US" sz="2500" b="1" i="0" u="none" strike="noStrike" cap="none" normalizeH="0" baseline="0" dirty="0">
                <a:ln>
                  <a:noFill/>
                </a:ln>
                <a:effectLst/>
                <a:latin typeface="Arial" panose="020B0604020202020204" pitchFamily="34" charset="0"/>
              </a:rPr>
              <a:t>Budapest, Sopron, </a:t>
            </a:r>
            <a:br>
              <a:rPr kumimoji="0" lang="en-US" altLang="en-US" sz="2500" b="1" i="0" u="none" strike="noStrike" cap="none" normalizeH="0" baseline="0" dirty="0">
                <a:ln>
                  <a:noFill/>
                </a:ln>
                <a:effectLst/>
                <a:latin typeface="Arial" panose="020B0604020202020204" pitchFamily="34" charset="0"/>
              </a:rPr>
            </a:br>
            <a:r>
              <a:rPr kumimoji="0" lang="en-US" altLang="en-US" sz="2500" b="1" i="0" u="none" strike="noStrike" cap="none" normalizeH="0" baseline="0" dirty="0">
                <a:ln>
                  <a:noFill/>
                </a:ln>
                <a:effectLst/>
                <a:latin typeface="Arial" panose="020B0604020202020204" pitchFamily="34" charset="0"/>
              </a:rPr>
              <a:t>Pécs, </a:t>
            </a:r>
            <a:r>
              <a:rPr kumimoji="0" lang="en-US" altLang="en-US" sz="2500" b="1" i="0" u="none" strike="noStrike" cap="none" normalizeH="0" baseline="0" dirty="0" err="1">
                <a:ln>
                  <a:noFill/>
                </a:ln>
                <a:solidFill>
                  <a:srgbClr val="FF0000"/>
                </a:solidFill>
                <a:effectLst/>
                <a:latin typeface="Arial" panose="020B0604020202020204" pitchFamily="34" charset="0"/>
              </a:rPr>
              <a:t>Szekszárd</a:t>
            </a:r>
            <a:endParaRPr kumimoji="0" lang="en-US" altLang="en-US" sz="2500" b="1" i="0" u="none" strike="noStrike" cap="none" normalizeH="0" baseline="0" dirty="0">
              <a:ln>
                <a:noFill/>
              </a:ln>
              <a:solidFill>
                <a:srgbClr val="FF0000"/>
              </a:solidFill>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Protokollok</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Redundancia</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kumimoji="0" lang="hu-HU" altLang="en-US" sz="2000" b="0" i="0" u="none" strike="noStrike" cap="none" normalizeH="0" baseline="0" dirty="0">
              <a:ln>
                <a:noFill/>
              </a:ln>
              <a:effectLst/>
              <a:latin typeface="Arial" panose="020B0604020202020204" pitchFamily="34" charset="0"/>
            </a:endParaRPr>
          </a:p>
        </p:txBody>
      </p:sp>
      <p:pic>
        <p:nvPicPr>
          <p:cNvPr id="5" name="Kép 4">
            <a:extLst>
              <a:ext uri="{FF2B5EF4-FFF2-40B4-BE49-F238E27FC236}">
                <a16:creationId xmlns:a16="http://schemas.microsoft.com/office/drawing/2014/main" id="{02161378-87E8-B615-B7EE-8273F819D0EE}"/>
              </a:ext>
            </a:extLst>
          </p:cNvPr>
          <p:cNvPicPr>
            <a:picLocks noChangeAspect="1"/>
          </p:cNvPicPr>
          <p:nvPr/>
        </p:nvPicPr>
        <p:blipFill>
          <a:blip r:embed="rId3"/>
          <a:stretch>
            <a:fillRect/>
          </a:stretch>
        </p:blipFill>
        <p:spPr>
          <a:xfrm>
            <a:off x="4059936" y="742401"/>
            <a:ext cx="7862820" cy="5079672"/>
          </a:xfrm>
          <a:prstGeom prst="rect">
            <a:avLst/>
          </a:prstGeom>
        </p:spPr>
      </p:pic>
    </p:spTree>
    <p:extLst>
      <p:ext uri="{BB962C8B-B14F-4D97-AF65-F5344CB8AC3E}">
        <p14:creationId xmlns:p14="http://schemas.microsoft.com/office/powerpoint/2010/main" val="1877513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3F913-7EC6-F9E8-4909-5EEFB02BD730}"/>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1D4AD15-16BE-0EB2-D4F3-52F883FC0360}"/>
              </a:ext>
            </a:extLst>
          </p:cNvPr>
          <p:cNvSpPr>
            <a:spLocks noGrp="1"/>
          </p:cNvSpPr>
          <p:nvPr>
            <p:ph type="title"/>
          </p:nvPr>
        </p:nvSpPr>
        <p:spPr>
          <a:xfrm>
            <a:off x="0" y="0"/>
            <a:ext cx="12192000" cy="1248991"/>
          </a:xfrm>
        </p:spPr>
        <p:txBody>
          <a:bodyPr>
            <a:normAutofit/>
          </a:bodyPr>
          <a:lstStyle/>
          <a:p>
            <a:pPr algn="ctr"/>
            <a:r>
              <a:rPr lang="en-US" sz="6000" u="sng" dirty="0">
                <a:solidFill>
                  <a:schemeClr val="bg1"/>
                </a:solidFill>
                <a:highlight>
                  <a:srgbClr val="000000"/>
                </a:highlight>
                <a:latin typeface="Agency FB" panose="020B0503020202020204" pitchFamily="34" charset="0"/>
              </a:rPr>
              <a:t>_Budapest_</a:t>
            </a:r>
            <a:r>
              <a:rPr lang="en-US" sz="6000" u="sng" dirty="0">
                <a:solidFill>
                  <a:schemeClr val="bg1"/>
                </a:solidFill>
                <a:latin typeface="Agency FB" panose="020B0503020202020204" pitchFamily="34" charset="0"/>
              </a:rPr>
              <a:t>  </a:t>
            </a:r>
            <a:r>
              <a:rPr lang="en-US" sz="6000" u="sng" dirty="0">
                <a:solidFill>
                  <a:schemeClr val="bg1"/>
                </a:solidFill>
                <a:highlight>
                  <a:srgbClr val="000000"/>
                </a:highlight>
                <a:latin typeface="Agency FB" panose="020B0503020202020204" pitchFamily="34" charset="0"/>
              </a:rPr>
              <a:t>  </a:t>
            </a:r>
          </a:p>
        </p:txBody>
      </p:sp>
      <p:sp>
        <p:nvSpPr>
          <p:cNvPr id="3" name="Rectangle 1">
            <a:extLst>
              <a:ext uri="{FF2B5EF4-FFF2-40B4-BE49-F238E27FC236}">
                <a16:creationId xmlns:a16="http://schemas.microsoft.com/office/drawing/2014/main" id="{E13A14CF-DF4F-D4EE-4378-5C6255AF6556}"/>
              </a:ext>
            </a:extLst>
          </p:cNvPr>
          <p:cNvSpPr>
            <a:spLocks noGrp="1" noChangeArrowheads="1"/>
          </p:cNvSpPr>
          <p:nvPr>
            <p:ph idx="1"/>
          </p:nvPr>
        </p:nvSpPr>
        <p:spPr bwMode="auto">
          <a:xfrm>
            <a:off x="426028" y="2194102"/>
            <a:ext cx="4175680"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buFont typeface="Wingdings" panose="05000000000000000000" pitchFamily="2" charset="2"/>
              <a:buChar char="q"/>
            </a:pPr>
            <a:r>
              <a:rPr kumimoji="0" lang="en-US" altLang="en-US" sz="2500" b="0" i="0" u="none" strike="noStrike" cap="none" normalizeH="0" baseline="0" dirty="0" err="1">
                <a:ln>
                  <a:noFill/>
                </a:ln>
                <a:effectLst/>
                <a:latin typeface="Arial" panose="020B0604020202020204" pitchFamily="34" charset="0"/>
              </a:rPr>
              <a:t>Szobák</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1" i="0" u="none" strike="noStrike" cap="none" normalizeH="0" baseline="0" dirty="0">
                <a:ln>
                  <a:noFill/>
                </a:ln>
                <a:effectLst/>
                <a:latin typeface="Arial" panose="020B0604020202020204" pitchFamily="34" charset="0"/>
              </a:rPr>
              <a:t>Admin</a:t>
            </a:r>
          </a:p>
          <a:p>
            <a:pPr eaLnBrk="0" fontAlgn="base" hangingPunct="0">
              <a:spcBef>
                <a:spcPct val="0"/>
              </a:spcBef>
              <a:spcAft>
                <a:spcPts val="600"/>
              </a:spcAft>
              <a:buFont typeface="Wingdings" panose="05000000000000000000" pitchFamily="2" charset="2"/>
              <a:buChar char="q"/>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20</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gép</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szerver</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1</a:t>
            </a:r>
            <a:r>
              <a:rPr kumimoji="0" lang="en-US" altLang="en-US" sz="2500" b="1"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nyomtató</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a:t>
            </a:r>
            <a:r>
              <a:rPr kumimoji="0" lang="en-US" altLang="en-US" sz="2500" b="1" i="0" u="none" strike="noStrike" cap="none" normalizeH="0" baseline="0" dirty="0" err="1">
                <a:ln>
                  <a:noFill/>
                </a:ln>
                <a:effectLst/>
                <a:latin typeface="Arial" panose="020B0604020202020204" pitchFamily="34" charset="0"/>
              </a:rPr>
              <a:t>Tűzfal</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2500" b="1"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Router: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strike="noStrike" cap="none" normalizeH="0" baseline="0" dirty="0">
                <a:ln>
                  <a:noFill/>
                </a:ln>
                <a:effectLst/>
                <a:latin typeface="Arial" panose="020B0604020202020204" pitchFamily="34" charset="0"/>
              </a:rPr>
              <a:t>3</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másik</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város</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routeréhez</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kötve</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pic>
        <p:nvPicPr>
          <p:cNvPr id="8" name="Kép 7">
            <a:extLst>
              <a:ext uri="{FF2B5EF4-FFF2-40B4-BE49-F238E27FC236}">
                <a16:creationId xmlns:a16="http://schemas.microsoft.com/office/drawing/2014/main" id="{2C9DAA99-F8CC-80EE-8AAA-EA74C850673F}"/>
              </a:ext>
            </a:extLst>
          </p:cNvPr>
          <p:cNvPicPr>
            <a:picLocks noChangeAspect="1"/>
          </p:cNvPicPr>
          <p:nvPr/>
        </p:nvPicPr>
        <p:blipFill>
          <a:blip r:embed="rId3"/>
          <a:stretch>
            <a:fillRect/>
          </a:stretch>
        </p:blipFill>
        <p:spPr>
          <a:xfrm>
            <a:off x="4866967" y="1248991"/>
            <a:ext cx="7225165" cy="5050426"/>
          </a:xfrm>
          <a:prstGeom prst="rect">
            <a:avLst/>
          </a:prstGeom>
        </p:spPr>
      </p:pic>
    </p:spTree>
    <p:extLst>
      <p:ext uri="{BB962C8B-B14F-4D97-AF65-F5344CB8AC3E}">
        <p14:creationId xmlns:p14="http://schemas.microsoft.com/office/powerpoint/2010/main" val="27459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675A5E-2D0C-CA32-7358-E18DEFE58EE5}"/>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2C269A-2976-23DB-A8FD-BFD12AEC6974}"/>
              </a:ext>
            </a:extLst>
          </p:cNvPr>
          <p:cNvSpPr>
            <a:spLocks noGrp="1"/>
          </p:cNvSpPr>
          <p:nvPr>
            <p:ph type="title"/>
          </p:nvPr>
        </p:nvSpPr>
        <p:spPr>
          <a:xfrm>
            <a:off x="0" y="23742"/>
            <a:ext cx="12192000" cy="1259412"/>
          </a:xfrm>
        </p:spPr>
        <p:txBody>
          <a:bodyPr>
            <a:normAutofit/>
          </a:bodyPr>
          <a:lstStyle/>
          <a:p>
            <a:pPr algn="ctr"/>
            <a:r>
              <a:rPr lang="en-US" sz="6000" u="sng" dirty="0">
                <a:solidFill>
                  <a:schemeClr val="bg1"/>
                </a:solidFill>
                <a:highlight>
                  <a:srgbClr val="000000"/>
                </a:highlight>
                <a:latin typeface="Agency FB" panose="020B0503020202020204" pitchFamily="34" charset="0"/>
              </a:rPr>
              <a:t>_Sopron_</a:t>
            </a:r>
          </a:p>
        </p:txBody>
      </p:sp>
      <p:sp>
        <p:nvSpPr>
          <p:cNvPr id="4" name="Rectangle 1">
            <a:extLst>
              <a:ext uri="{FF2B5EF4-FFF2-40B4-BE49-F238E27FC236}">
                <a16:creationId xmlns:a16="http://schemas.microsoft.com/office/drawing/2014/main" id="{71BCB433-C718-99BE-168A-9B5C7A3F855A}"/>
              </a:ext>
            </a:extLst>
          </p:cNvPr>
          <p:cNvSpPr>
            <a:spLocks noGrp="1" noChangeArrowheads="1"/>
          </p:cNvSpPr>
          <p:nvPr>
            <p:ph idx="1"/>
          </p:nvPr>
        </p:nvSpPr>
        <p:spPr bwMode="auto">
          <a:xfrm>
            <a:off x="394854" y="2194102"/>
            <a:ext cx="3894513"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err="1">
                <a:ln>
                  <a:noFill/>
                </a:ln>
                <a:effectLst/>
                <a:latin typeface="Arial" panose="020B0604020202020204" pitchFamily="34" charset="0"/>
              </a:rPr>
              <a:t>Szobák</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1" i="0" u="none" strike="noStrike" cap="none" normalizeH="0" baseline="0" dirty="0">
                <a:ln>
                  <a:noFill/>
                </a:ln>
                <a:effectLst/>
                <a:latin typeface="Arial" panose="020B0604020202020204" pitchFamily="34" charset="0"/>
              </a:rPr>
              <a:t>Admin</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1" u="none" strike="noStrike" cap="none" normalizeH="0" baseline="0" dirty="0">
                <a:ln>
                  <a:noFill/>
                </a:ln>
                <a:effectLst/>
                <a:latin typeface="Arial" panose="020B0604020202020204" pitchFamily="34" charset="0"/>
              </a:rPr>
              <a:t>16</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gép</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szerver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nyomtató</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err="1">
                <a:ln>
                  <a:noFill/>
                </a:ln>
                <a:effectLst/>
                <a:latin typeface="Arial" panose="020B0604020202020204" pitchFamily="34" charset="0"/>
              </a:rPr>
              <a:t>Tűzfal</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hu-HU" altLang="en-US" sz="2500" b="1"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kumimoji="0" lang="en-US" altLang="en-US" sz="2500" b="1" i="0" u="none" strike="noStrike" cap="none" normalizeH="0" baseline="0" dirty="0">
                <a:ln>
                  <a:noFill/>
                </a:ln>
                <a:effectLst/>
                <a:latin typeface="Arial" panose="020B0604020202020204" pitchFamily="34" charset="0"/>
              </a:rPr>
              <a:t>Router: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3</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másik</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város</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routeréhez</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kötve</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kumimoji="0" lang="hu-HU" altLang="en-US" sz="2000" b="0" i="0" u="none" strike="noStrike" cap="none" normalizeH="0" baseline="0" dirty="0">
              <a:ln>
                <a:noFill/>
              </a:ln>
              <a:effectLst/>
              <a:latin typeface="Arial" panose="020B0604020202020204" pitchFamily="34" charset="0"/>
            </a:endParaRPr>
          </a:p>
        </p:txBody>
      </p:sp>
      <p:pic>
        <p:nvPicPr>
          <p:cNvPr id="6" name="Kép 5">
            <a:extLst>
              <a:ext uri="{FF2B5EF4-FFF2-40B4-BE49-F238E27FC236}">
                <a16:creationId xmlns:a16="http://schemas.microsoft.com/office/drawing/2014/main" id="{8B27FBAB-5B98-E7A7-20BC-095C16143762}"/>
              </a:ext>
            </a:extLst>
          </p:cNvPr>
          <p:cNvPicPr>
            <a:picLocks noChangeAspect="1"/>
          </p:cNvPicPr>
          <p:nvPr/>
        </p:nvPicPr>
        <p:blipFill>
          <a:blip r:embed="rId3"/>
          <a:stretch>
            <a:fillRect/>
          </a:stretch>
        </p:blipFill>
        <p:spPr>
          <a:xfrm>
            <a:off x="4985495" y="1306896"/>
            <a:ext cx="7206505" cy="4947217"/>
          </a:xfrm>
          <a:prstGeom prst="rect">
            <a:avLst/>
          </a:prstGeom>
        </p:spPr>
      </p:pic>
    </p:spTree>
    <p:extLst>
      <p:ext uri="{BB962C8B-B14F-4D97-AF65-F5344CB8AC3E}">
        <p14:creationId xmlns:p14="http://schemas.microsoft.com/office/powerpoint/2010/main" val="52827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298537-8A90-4BFE-FDDD-6615D94884D7}"/>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3F0D047-2BD8-2B29-CB9D-0436ED1C6D20}"/>
              </a:ext>
            </a:extLst>
          </p:cNvPr>
          <p:cNvSpPr>
            <a:spLocks noGrp="1"/>
          </p:cNvSpPr>
          <p:nvPr>
            <p:ph type="title"/>
          </p:nvPr>
        </p:nvSpPr>
        <p:spPr>
          <a:xfrm>
            <a:off x="0" y="23740"/>
            <a:ext cx="12192000" cy="1212778"/>
          </a:xfrm>
        </p:spPr>
        <p:txBody>
          <a:bodyPr>
            <a:normAutofit/>
          </a:bodyPr>
          <a:lstStyle/>
          <a:p>
            <a:pPr algn="ctr"/>
            <a:r>
              <a:rPr lang="en-US" sz="6000" u="sng" dirty="0">
                <a:solidFill>
                  <a:schemeClr val="bg1"/>
                </a:solidFill>
                <a:highlight>
                  <a:srgbClr val="000000"/>
                </a:highlight>
                <a:latin typeface="Agency FB" panose="020B0503020202020204" pitchFamily="34" charset="0"/>
              </a:rPr>
              <a:t>_Pécs_</a:t>
            </a:r>
          </a:p>
        </p:txBody>
      </p:sp>
      <p:sp>
        <p:nvSpPr>
          <p:cNvPr id="4" name="Rectangle 1">
            <a:extLst>
              <a:ext uri="{FF2B5EF4-FFF2-40B4-BE49-F238E27FC236}">
                <a16:creationId xmlns:a16="http://schemas.microsoft.com/office/drawing/2014/main" id="{AAEADE4B-7175-CDC4-6ACC-ADE024C3CB0A}"/>
              </a:ext>
            </a:extLst>
          </p:cNvPr>
          <p:cNvSpPr>
            <a:spLocks noGrp="1" noChangeArrowheads="1"/>
          </p:cNvSpPr>
          <p:nvPr>
            <p:ph idx="1"/>
          </p:nvPr>
        </p:nvSpPr>
        <p:spPr bwMode="auto">
          <a:xfrm>
            <a:off x="477982" y="2194102"/>
            <a:ext cx="4083627"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kumimoji="0" lang="en-US" altLang="en-US" sz="2500" b="0" i="0" u="none" strike="noStrike" cap="none" normalizeH="0" baseline="0" dirty="0" err="1">
                <a:ln>
                  <a:noFill/>
                </a:ln>
                <a:effectLst/>
                <a:latin typeface="Arial" panose="020B0604020202020204" pitchFamily="34" charset="0"/>
              </a:rPr>
              <a:t>Szobák</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0" i="0" u="sng" strike="noStrike" cap="none" normalizeH="0" baseline="0" dirty="0" err="1">
                <a:ln>
                  <a:noFill/>
                </a:ln>
                <a:effectLst/>
                <a:latin typeface="Arial" panose="020B0604020202020204" pitchFamily="34" charset="0"/>
              </a:rPr>
              <a:t>Bár</a:t>
            </a:r>
            <a:endParaRPr kumimoji="0" lang="en-US" altLang="en-US" sz="2500" b="0" i="0" u="sng"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VLAN-ok: </a:t>
            </a:r>
            <a:r>
              <a:rPr kumimoji="0" lang="en-US" altLang="en-US" sz="2500" b="0" i="0" u="sng" strike="noStrike" cap="none" normalizeH="0" baseline="0" dirty="0" err="1">
                <a:ln>
                  <a:noFill/>
                </a:ln>
                <a:effectLst/>
                <a:latin typeface="Arial" panose="020B0604020202020204" pitchFamily="34" charset="0"/>
              </a:rPr>
              <a:t>Szoba</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sng" strike="noStrike" cap="none" normalizeH="0" baseline="0" dirty="0" err="1">
                <a:ln>
                  <a:noFill/>
                </a:ln>
                <a:effectLst/>
                <a:latin typeface="Arial" panose="020B0604020202020204" pitchFamily="34" charset="0"/>
              </a:rPr>
              <a:t>Szoba</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u="sng" strike="noStrike" cap="none" normalizeH="0" baseline="0" dirty="0" err="1">
                <a:ln>
                  <a:noFill/>
                </a:ln>
                <a:effectLst/>
                <a:latin typeface="Arial" panose="020B0604020202020204" pitchFamily="34" charset="0"/>
              </a:rPr>
              <a:t>Bár</a:t>
            </a:r>
            <a:endParaRPr kumimoji="0" lang="en-US" altLang="en-US" sz="2500" b="0" i="0" u="sng"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DHCP </a:t>
            </a:r>
            <a:r>
              <a:rPr kumimoji="0" lang="en-US" altLang="en-US" sz="2500" i="0" u="none" strike="noStrike" cap="none" normalizeH="0" baseline="0" dirty="0" err="1">
                <a:ln>
                  <a:noFill/>
                </a:ln>
                <a:effectLst/>
                <a:latin typeface="Arial" panose="020B0604020202020204" pitchFamily="34" charset="0"/>
              </a:rPr>
              <a:t>kiosztás</a:t>
            </a:r>
            <a:endParaRPr kumimoji="0" lang="en-US" altLang="en-US" sz="250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sng" strike="noStrike" cap="none" normalizeH="0" baseline="0" dirty="0">
                <a:ln>
                  <a:noFill/>
                </a:ln>
                <a:effectLst/>
                <a:latin typeface="Arial" panose="020B0604020202020204" pitchFamily="34" charset="0"/>
              </a:rPr>
              <a:t> Wireless Router</a:t>
            </a:r>
            <a:r>
              <a:rPr kumimoji="0" lang="en-US" altLang="en-US" sz="2500" b="0" i="0" u="none" strike="noStrike" cap="none" normalizeH="0" baseline="0" dirty="0">
                <a:ln>
                  <a:noFill/>
                </a:ln>
                <a:effectLst/>
                <a:latin typeface="Arial" panose="020B0604020202020204" pitchFamily="34" charset="0"/>
              </a:rPr>
              <a:t> a </a:t>
            </a:r>
            <a:r>
              <a:rPr kumimoji="0" lang="en-US" altLang="en-US" sz="2500" b="0" i="0" u="none" strike="noStrike" cap="none" normalizeH="0" baseline="0" dirty="0" err="1">
                <a:ln>
                  <a:noFill/>
                </a:ln>
                <a:effectLst/>
                <a:latin typeface="Arial" panose="020B0604020202020204" pitchFamily="34" charset="0"/>
              </a:rPr>
              <a:t>bárhoz</a:t>
            </a:r>
            <a:endParaRPr kumimoji="0" lang="en-US" altLang="en-US" sz="2500" b="0" i="0" u="none" strike="noStrike" cap="none" normalizeH="0" baseline="0" dirty="0">
              <a:ln>
                <a:noFill/>
              </a:ln>
              <a:effectLst/>
              <a:latin typeface="Arial" panose="020B0604020202020204" pitchFamily="34" charset="0"/>
            </a:endParaRPr>
          </a:p>
        </p:txBody>
      </p:sp>
      <p:pic>
        <p:nvPicPr>
          <p:cNvPr id="5" name="Kép 4">
            <a:extLst>
              <a:ext uri="{FF2B5EF4-FFF2-40B4-BE49-F238E27FC236}">
                <a16:creationId xmlns:a16="http://schemas.microsoft.com/office/drawing/2014/main" id="{790D7A0D-F644-4027-716D-8298771631BB}"/>
              </a:ext>
            </a:extLst>
          </p:cNvPr>
          <p:cNvPicPr>
            <a:picLocks noChangeAspect="1"/>
          </p:cNvPicPr>
          <p:nvPr/>
        </p:nvPicPr>
        <p:blipFill>
          <a:blip r:embed="rId3"/>
          <a:stretch>
            <a:fillRect/>
          </a:stretch>
        </p:blipFill>
        <p:spPr>
          <a:xfrm>
            <a:off x="4906296" y="1417917"/>
            <a:ext cx="7208036" cy="4684771"/>
          </a:xfrm>
          <a:prstGeom prst="rect">
            <a:avLst/>
          </a:prstGeom>
        </p:spPr>
      </p:pic>
    </p:spTree>
    <p:extLst>
      <p:ext uri="{BB962C8B-B14F-4D97-AF65-F5344CB8AC3E}">
        <p14:creationId xmlns:p14="http://schemas.microsoft.com/office/powerpoint/2010/main" val="2398510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F42DC4-946B-91B6-2AD7-ADDE803CA836}"/>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A1AAAB7-B49A-A2D9-5226-0280423B4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8ED94F4E-69E6-EB32-2B0D-899214C1F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9BAC694-A647-349A-4E84-EA164E5AE583}"/>
              </a:ext>
            </a:extLst>
          </p:cNvPr>
          <p:cNvSpPr>
            <a:spLocks noGrp="1"/>
          </p:cNvSpPr>
          <p:nvPr>
            <p:ph type="title"/>
          </p:nvPr>
        </p:nvSpPr>
        <p:spPr>
          <a:xfrm>
            <a:off x="0" y="23740"/>
            <a:ext cx="12192000" cy="1212778"/>
          </a:xfrm>
        </p:spPr>
        <p:txBody>
          <a:bodyPr>
            <a:normAutofit/>
          </a:bodyPr>
          <a:lstStyle/>
          <a:p>
            <a:pPr algn="ctr"/>
            <a:r>
              <a:rPr lang="en-US" sz="6000" u="sng" dirty="0">
                <a:solidFill>
                  <a:schemeClr val="bg1"/>
                </a:solidFill>
                <a:highlight>
                  <a:srgbClr val="000000"/>
                </a:highlight>
                <a:latin typeface="Agency FB" panose="020B0503020202020204" pitchFamily="34" charset="0"/>
              </a:rPr>
              <a:t>_</a:t>
            </a:r>
            <a:r>
              <a:rPr lang="en-US" sz="6000" u="sng" dirty="0" err="1">
                <a:solidFill>
                  <a:schemeClr val="bg1"/>
                </a:solidFill>
                <a:highlight>
                  <a:srgbClr val="000000"/>
                </a:highlight>
                <a:latin typeface="Agency FB" panose="020B0503020202020204" pitchFamily="34" charset="0"/>
              </a:rPr>
              <a:t>Szekszárd</a:t>
            </a:r>
            <a:r>
              <a:rPr lang="en-US" sz="6000" u="sng" dirty="0">
                <a:solidFill>
                  <a:schemeClr val="bg1"/>
                </a:solidFill>
                <a:highlight>
                  <a:srgbClr val="000000"/>
                </a:highlight>
                <a:latin typeface="Agency FB" panose="020B0503020202020204" pitchFamily="34" charset="0"/>
              </a:rPr>
              <a:t>_</a:t>
            </a:r>
          </a:p>
        </p:txBody>
      </p:sp>
      <p:sp>
        <p:nvSpPr>
          <p:cNvPr id="7" name="Rectangle 1">
            <a:extLst>
              <a:ext uri="{FF2B5EF4-FFF2-40B4-BE49-F238E27FC236}">
                <a16:creationId xmlns:a16="http://schemas.microsoft.com/office/drawing/2014/main" id="{E7E3FE34-BDAD-C5DC-F810-9F232BA28555}"/>
              </a:ext>
            </a:extLst>
          </p:cNvPr>
          <p:cNvSpPr txBox="1">
            <a:spLocks noChangeArrowheads="1"/>
          </p:cNvSpPr>
          <p:nvPr/>
        </p:nvSpPr>
        <p:spPr bwMode="auto">
          <a:xfrm>
            <a:off x="389099" y="2374322"/>
            <a:ext cx="4586513" cy="40108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en-US" altLang="en-US" sz="2500" dirty="0" err="1">
                <a:latin typeface="Arial" panose="020B0604020202020204" pitchFamily="34" charset="0"/>
              </a:rPr>
              <a:t>Helyiségek</a:t>
            </a:r>
            <a:r>
              <a:rPr lang="en-US" altLang="en-US" sz="2500" dirty="0">
                <a:latin typeface="Arial" panose="020B0604020202020204" pitchFamily="34" charset="0"/>
              </a:rPr>
              <a:t>: </a:t>
            </a:r>
            <a:r>
              <a:rPr lang="en-US" altLang="en-US" sz="2500" u="sng" dirty="0">
                <a:latin typeface="Arial" panose="020B0604020202020204" pitchFamily="34" charset="0"/>
              </a:rPr>
              <a:t>Iroda</a:t>
            </a:r>
            <a:r>
              <a:rPr lang="en-US" altLang="en-US" sz="2500" dirty="0">
                <a:latin typeface="Arial" panose="020B0604020202020204" pitchFamily="34" charset="0"/>
              </a:rPr>
              <a:t>, </a:t>
            </a:r>
            <a:r>
              <a:rPr lang="en-US" altLang="en-US" sz="2500" u="sng" dirty="0" err="1">
                <a:latin typeface="Arial" panose="020B0604020202020204" pitchFamily="34" charset="0"/>
              </a:rPr>
              <a:t>Szerver</a:t>
            </a:r>
            <a:r>
              <a:rPr lang="en-US" altLang="en-US" sz="2500" u="sng" dirty="0">
                <a:latin typeface="Arial" panose="020B0604020202020204" pitchFamily="34" charset="0"/>
              </a:rPr>
              <a:t> </a:t>
            </a:r>
            <a:r>
              <a:rPr lang="en-US" altLang="en-US" sz="2500" u="sng" dirty="0" err="1">
                <a:latin typeface="Arial" panose="020B0604020202020204" pitchFamily="34" charset="0"/>
              </a:rPr>
              <a:t>szoba</a:t>
            </a:r>
            <a:r>
              <a:rPr lang="en-US" altLang="en-US" sz="2500" dirty="0">
                <a:latin typeface="Arial" panose="020B0604020202020204" pitchFamily="34" charset="0"/>
              </a:rPr>
              <a:t>, </a:t>
            </a:r>
            <a:r>
              <a:rPr lang="en-US" altLang="en-US" sz="2500" b="1" dirty="0">
                <a:latin typeface="Arial" panose="020B0604020202020204" pitchFamily="34" charset="0"/>
              </a:rPr>
              <a:t>Admin</a:t>
            </a:r>
          </a:p>
          <a:p>
            <a:pPr eaLnBrk="0" fontAlgn="base" hangingPunct="0">
              <a:spcBef>
                <a:spcPct val="0"/>
              </a:spcBef>
              <a:spcAft>
                <a:spcPts val="600"/>
              </a:spcAft>
              <a:buFont typeface="Wingdings" panose="05000000000000000000" pitchFamily="2" charset="2"/>
              <a:buChar char="q"/>
            </a:pPr>
            <a:endParaRPr lang="en-US"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en-US" altLang="en-US" sz="2500" i="1" dirty="0">
                <a:latin typeface="Arial" panose="020B0604020202020204" pitchFamily="34" charset="0"/>
              </a:rPr>
              <a:t>12</a:t>
            </a:r>
            <a:r>
              <a:rPr lang="en-US" altLang="en-US" sz="2500" dirty="0">
                <a:latin typeface="Arial" panose="020B0604020202020204" pitchFamily="34" charset="0"/>
              </a:rPr>
              <a:t> </a:t>
            </a:r>
            <a:r>
              <a:rPr lang="en-US" altLang="en-US" sz="2500" dirty="0" err="1">
                <a:latin typeface="Arial" panose="020B0604020202020204" pitchFamily="34" charset="0"/>
              </a:rPr>
              <a:t>gép</a:t>
            </a:r>
            <a:r>
              <a:rPr lang="en-US" altLang="en-US" sz="2500" dirty="0">
                <a:latin typeface="Arial" panose="020B0604020202020204" pitchFamily="34" charset="0"/>
              </a:rPr>
              <a:t>, </a:t>
            </a:r>
            <a:r>
              <a:rPr lang="en-US" altLang="en-US" sz="2500" i="1" dirty="0">
                <a:latin typeface="Arial" panose="020B0604020202020204" pitchFamily="34" charset="0"/>
              </a:rPr>
              <a:t>2</a:t>
            </a:r>
            <a:r>
              <a:rPr lang="en-US" altLang="en-US" sz="2500" dirty="0">
                <a:latin typeface="Arial" panose="020B0604020202020204" pitchFamily="34" charset="0"/>
              </a:rPr>
              <a:t> </a:t>
            </a:r>
            <a:r>
              <a:rPr lang="en-US" altLang="en-US" sz="2500" dirty="0" err="1">
                <a:latin typeface="Arial" panose="020B0604020202020204" pitchFamily="34" charset="0"/>
              </a:rPr>
              <a:t>nyomtató</a:t>
            </a:r>
            <a:r>
              <a:rPr lang="en-US" altLang="en-US" sz="2500" dirty="0">
                <a:latin typeface="Arial" panose="020B0604020202020204" pitchFamily="34" charset="0"/>
              </a:rPr>
              <a:t>, </a:t>
            </a:r>
            <a:r>
              <a:rPr lang="en-US" altLang="en-US" sz="2500" i="1" dirty="0">
                <a:latin typeface="Arial" panose="020B0604020202020204" pitchFamily="34" charset="0"/>
              </a:rPr>
              <a:t>3 </a:t>
            </a:r>
            <a:r>
              <a:rPr lang="en-US" altLang="en-US" sz="2500" dirty="0" err="1">
                <a:latin typeface="Arial" panose="020B0604020202020204" pitchFamily="34" charset="0"/>
              </a:rPr>
              <a:t>szerver</a:t>
            </a:r>
            <a:endParaRPr lang="en-US"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endParaRPr lang="hu-HU"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hu-HU" altLang="en-US" sz="2500" b="1" dirty="0">
                <a:latin typeface="Arial" panose="020B0604020202020204" pitchFamily="34" charset="0"/>
              </a:rPr>
              <a:t>Admin</a:t>
            </a:r>
            <a:r>
              <a:rPr lang="hu-HU" altLang="en-US" sz="2500" dirty="0">
                <a:latin typeface="Arial" panose="020B0604020202020204" pitchFamily="34" charset="0"/>
              </a:rPr>
              <a:t> város</a:t>
            </a:r>
            <a:endParaRPr lang="en-US" altLang="en-US" sz="2500" dirty="0">
              <a:latin typeface="Arial" panose="020B0604020202020204" pitchFamily="34" charset="0"/>
            </a:endParaRPr>
          </a:p>
        </p:txBody>
      </p:sp>
      <p:pic>
        <p:nvPicPr>
          <p:cNvPr id="4" name="Kép 3">
            <a:extLst>
              <a:ext uri="{FF2B5EF4-FFF2-40B4-BE49-F238E27FC236}">
                <a16:creationId xmlns:a16="http://schemas.microsoft.com/office/drawing/2014/main" id="{F4B6B390-4979-BE95-DE9D-D48AE5436620}"/>
              </a:ext>
            </a:extLst>
          </p:cNvPr>
          <p:cNvPicPr>
            <a:picLocks noChangeAspect="1"/>
          </p:cNvPicPr>
          <p:nvPr/>
        </p:nvPicPr>
        <p:blipFill>
          <a:blip r:embed="rId3"/>
          <a:stretch>
            <a:fillRect/>
          </a:stretch>
        </p:blipFill>
        <p:spPr>
          <a:xfrm>
            <a:off x="4896954" y="1648820"/>
            <a:ext cx="7216388" cy="4446284"/>
          </a:xfrm>
          <a:prstGeom prst="rect">
            <a:avLst/>
          </a:prstGeom>
        </p:spPr>
      </p:pic>
    </p:spTree>
    <p:extLst>
      <p:ext uri="{BB962C8B-B14F-4D97-AF65-F5344CB8AC3E}">
        <p14:creationId xmlns:p14="http://schemas.microsoft.com/office/powerpoint/2010/main" val="1494984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1908B-985C-DD71-9F8A-DA8CC2F13B2A}"/>
              </a:ext>
            </a:extLst>
          </p:cNvPr>
          <p:cNvSpPr>
            <a:spLocks noGrp="1"/>
          </p:cNvSpPr>
          <p:nvPr>
            <p:ph type="title"/>
          </p:nvPr>
        </p:nvSpPr>
        <p:spPr>
          <a:xfrm>
            <a:off x="6392583" y="501651"/>
            <a:ext cx="4414848" cy="1716255"/>
          </a:xfrm>
        </p:spPr>
        <p:txBody>
          <a:bodyPr anchor="b">
            <a:normAutofit/>
          </a:bodyPr>
          <a:lstStyle/>
          <a:p>
            <a:r>
              <a:rPr lang="en-US" sz="5600" dirty="0" err="1">
                <a:effectLst>
                  <a:outerShdw blurRad="38100" dist="38100" dir="2700000" algn="tl">
                    <a:srgbClr val="000000">
                      <a:alpha val="43137"/>
                    </a:srgbClr>
                  </a:outerShdw>
                </a:effectLst>
                <a:latin typeface="Abadi" panose="020B0604020104020204" pitchFamily="34" charset="0"/>
                <a:cs typeface="Aharoni" panose="020F0502020204030204" pitchFamily="2" charset="-79"/>
              </a:rPr>
              <a:t>Jövőbeli</a:t>
            </a:r>
            <a:r>
              <a:rPr lang="en-US" sz="5600" dirty="0">
                <a:effectLst>
                  <a:outerShdw blurRad="38100" dist="38100" dir="2700000" algn="tl">
                    <a:srgbClr val="000000">
                      <a:alpha val="43137"/>
                    </a:srgbClr>
                  </a:outerShdw>
                </a:effectLst>
                <a:latin typeface="Abadi" panose="020B0604020104020204" pitchFamily="34" charset="0"/>
                <a:cs typeface="Aharoni" panose="020F0502020204030204" pitchFamily="2" charset="-79"/>
              </a:rPr>
              <a:t> </a:t>
            </a:r>
            <a:r>
              <a:rPr lang="en-US" sz="5600" dirty="0" err="1">
                <a:effectLst>
                  <a:outerShdw blurRad="38100" dist="38100" dir="2700000" algn="tl">
                    <a:srgbClr val="000000">
                      <a:alpha val="43137"/>
                    </a:srgbClr>
                  </a:outerShdw>
                </a:effectLst>
                <a:latin typeface="Abadi" panose="020B0604020104020204" pitchFamily="34" charset="0"/>
                <a:cs typeface="Aharoni" panose="020F0502020204030204" pitchFamily="2" charset="-79"/>
              </a:rPr>
              <a:t>tervek</a:t>
            </a:r>
            <a:endParaRPr lang="en-US" sz="5600" dirty="0">
              <a:effectLst>
                <a:outerShdw blurRad="38100" dist="38100" dir="2700000" algn="tl">
                  <a:srgbClr val="000000">
                    <a:alpha val="43137"/>
                  </a:srgbClr>
                </a:outerShdw>
              </a:effectLst>
              <a:latin typeface="Abadi" panose="020B0604020104020204" pitchFamily="34" charset="0"/>
              <a:cs typeface="Aharoni" panose="020F0502020204030204" pitchFamily="2" charset="-79"/>
            </a:endParaRPr>
          </a:p>
        </p:txBody>
      </p:sp>
      <p:pic>
        <p:nvPicPr>
          <p:cNvPr id="1026" name="Picture 2" descr="Doodle plan icon hand drawn infographic notepaper piece to do list project  planning 1 2 3 steps | Premium Vector">
            <a:extLst>
              <a:ext uri="{FF2B5EF4-FFF2-40B4-BE49-F238E27FC236}">
                <a16:creationId xmlns:a16="http://schemas.microsoft.com/office/drawing/2014/main" id="{A1E44AC0-275C-A2FC-49E6-B4AAD2EB3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201" r="8370" b="-3"/>
          <a:stretch>
            <a:fillRect/>
          </a:stretch>
        </p:blipFill>
        <p:spPr bwMode="auto">
          <a:xfrm>
            <a:off x="279143" y="299509"/>
            <a:ext cx="5221625" cy="62589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1AE7224-8D3A-C728-A333-D9B34E369CBA}"/>
              </a:ext>
            </a:extLst>
          </p:cNvPr>
          <p:cNvSpPr>
            <a:spLocks noGrp="1"/>
          </p:cNvSpPr>
          <p:nvPr>
            <p:ph idx="1"/>
          </p:nvPr>
        </p:nvSpPr>
        <p:spPr>
          <a:xfrm>
            <a:off x="6392583" y="2645922"/>
            <a:ext cx="4434721" cy="3710427"/>
          </a:xfrm>
        </p:spPr>
        <p:txBody>
          <a:bodyPr anchor="t">
            <a:noAutofit/>
          </a:bodyPr>
          <a:lstStyle/>
          <a:p>
            <a:r>
              <a:rPr lang="hu-HU" sz="3200" dirty="0">
                <a:solidFill>
                  <a:srgbClr val="C00000"/>
                </a:solidFill>
                <a:effectLst>
                  <a:outerShdw blurRad="38100" dist="38100" dir="2700000" algn="tl">
                    <a:srgbClr val="000000">
                      <a:alpha val="43137"/>
                    </a:srgbClr>
                  </a:outerShdw>
                </a:effectLst>
                <a:latin typeface="Berlin Sans FB" panose="020E0602020502020306" pitchFamily="34" charset="0"/>
              </a:rPr>
              <a:t>Biztonság továbbfejlesztése</a:t>
            </a:r>
            <a:endParaRPr lang="en-US" sz="3200" dirty="0">
              <a:solidFill>
                <a:srgbClr val="C00000"/>
              </a:solidFill>
              <a:effectLst>
                <a:outerShdw blurRad="38100" dist="38100" dir="2700000" algn="tl">
                  <a:srgbClr val="000000">
                    <a:alpha val="43137"/>
                  </a:srgbClr>
                </a:outerShdw>
              </a:effectLst>
              <a:latin typeface="Berlin Sans FB" panose="020E0602020502020306" pitchFamily="34" charset="0"/>
            </a:endParaRPr>
          </a:p>
          <a:p>
            <a:r>
              <a:rPr lang="hu-HU" sz="3200" dirty="0">
                <a:solidFill>
                  <a:srgbClr val="FF0000"/>
                </a:solidFill>
                <a:effectLst>
                  <a:outerShdw blurRad="38100" dist="38100" dir="2700000" algn="tl">
                    <a:srgbClr val="000000">
                      <a:alpha val="43137"/>
                    </a:srgbClr>
                  </a:outerShdw>
                </a:effectLst>
                <a:latin typeface="Berlin Sans FB" panose="020E0602020502020306" pitchFamily="34" charset="0"/>
              </a:rPr>
              <a:t>Több tűzfal</a:t>
            </a:r>
            <a:endParaRPr lang="en-US" sz="3200" dirty="0">
              <a:solidFill>
                <a:srgbClr val="FF0000"/>
              </a:solidFill>
              <a:effectLst>
                <a:outerShdw blurRad="38100" dist="38100" dir="2700000" algn="tl">
                  <a:srgbClr val="000000">
                    <a:alpha val="43137"/>
                  </a:srgbClr>
                </a:outerShdw>
              </a:effectLst>
              <a:latin typeface="Berlin Sans FB" panose="020E0602020502020306" pitchFamily="34" charset="0"/>
            </a:endParaRPr>
          </a:p>
          <a:p>
            <a:r>
              <a:rPr lang="en-US" sz="3200" dirty="0">
                <a:solidFill>
                  <a:schemeClr val="accent2"/>
                </a:solidFill>
                <a:effectLst>
                  <a:outerShdw blurRad="38100" dist="38100" dir="2700000" algn="tl">
                    <a:srgbClr val="000000">
                      <a:alpha val="43137"/>
                    </a:srgbClr>
                  </a:outerShdw>
                </a:effectLst>
                <a:latin typeface="Berlin Sans FB"/>
              </a:rPr>
              <a:t>T</a:t>
            </a:r>
            <a:r>
              <a:rPr lang="hu-HU" sz="3200" dirty="0">
                <a:solidFill>
                  <a:schemeClr val="accent2"/>
                </a:solidFill>
                <a:effectLst>
                  <a:outerShdw blurRad="38100" dist="38100" dir="2700000" algn="tl">
                    <a:srgbClr val="000000">
                      <a:alpha val="43137"/>
                    </a:srgbClr>
                  </a:outerShdw>
                </a:effectLst>
                <a:latin typeface="Berlin Sans FB"/>
              </a:rPr>
              <a:t>ovábbi telephelyek kialakitása </a:t>
            </a:r>
            <a:endParaRPr lang="en-US" sz="3200" dirty="0">
              <a:solidFill>
                <a:schemeClr val="accent2"/>
              </a:solidFill>
              <a:effectLst>
                <a:outerShdw blurRad="38100" dist="38100" dir="2700000" algn="tl">
                  <a:srgbClr val="000000">
                    <a:alpha val="43137"/>
                  </a:srgbClr>
                </a:outerShdw>
              </a:effectLst>
              <a:latin typeface="Berlin Sans FB"/>
            </a:endParaRPr>
          </a:p>
          <a:p>
            <a:r>
              <a:rPr lang="hu-HU" sz="3200" dirty="0">
                <a:solidFill>
                  <a:srgbClr val="FFC000"/>
                </a:solidFill>
                <a:effectLst>
                  <a:outerShdw blurRad="38100" dist="38100" dir="2700000" algn="tl">
                    <a:srgbClr val="000000">
                      <a:alpha val="43137"/>
                    </a:srgbClr>
                  </a:outerShdw>
                </a:effectLst>
                <a:latin typeface="Berlin Sans FB"/>
              </a:rPr>
              <a:t>Hálózati eszközök fejlesztése</a:t>
            </a:r>
            <a:endParaRPr lang="en-US" sz="3000" dirty="0">
              <a:solidFill>
                <a:srgbClr val="FFC000"/>
              </a:solidFill>
              <a:effectLst>
                <a:outerShdw blurRad="38100" dist="38100" dir="2700000" algn="tl">
                  <a:srgbClr val="000000">
                    <a:alpha val="43137"/>
                  </a:srgbClr>
                </a:outerShdw>
              </a:effectLst>
              <a:latin typeface="Berlin Sans FB"/>
            </a:endParaRPr>
          </a:p>
        </p:txBody>
      </p:sp>
    </p:spTree>
    <p:extLst>
      <p:ext uri="{BB962C8B-B14F-4D97-AF65-F5344CB8AC3E}">
        <p14:creationId xmlns:p14="http://schemas.microsoft.com/office/powerpoint/2010/main" val="275229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1155557" y="637763"/>
            <a:ext cx="4310698" cy="1627274"/>
          </a:xfrm>
        </p:spPr>
        <p:txBody>
          <a:bodyPr anchor="t">
            <a:normAutofit/>
          </a:bodyPr>
          <a:lstStyle/>
          <a:p>
            <a:r>
              <a:rPr lang="en-US" sz="4800" u="sng" dirty="0">
                <a:solidFill>
                  <a:schemeClr val="bg1"/>
                </a:solidFill>
              </a:rPr>
              <a:t>Jira </a:t>
            </a:r>
            <a:r>
              <a:rPr lang="en-US" sz="4800" dirty="0" err="1">
                <a:solidFill>
                  <a:schemeClr val="bg1"/>
                </a:solidFill>
              </a:rPr>
              <a:t>dokumentálás</a:t>
            </a:r>
            <a:endParaRPr lang="en-US" sz="4800" dirty="0">
              <a:solidFill>
                <a:schemeClr val="bg1"/>
              </a:solidFill>
            </a:endParaRPr>
          </a:p>
        </p:txBody>
      </p:sp>
      <p:sp>
        <p:nvSpPr>
          <p:cNvPr id="44" name="Rectangle 4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1155556" y="2581065"/>
            <a:ext cx="4284416" cy="36334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err="1">
                <a:ln>
                  <a:noFill/>
                </a:ln>
                <a:solidFill>
                  <a:schemeClr val="bg1"/>
                </a:solidFill>
                <a:effectLst/>
                <a:latin typeface="Arial" panose="020B0604020202020204" pitchFamily="34" charset="0"/>
              </a:rPr>
              <a:t>Tesztelések</a:t>
            </a:r>
            <a:endParaRPr kumimoji="0" lang="en-US" altLang="en-US" sz="2500" b="0" i="0" u="none" strike="noStrike" cap="none" normalizeH="0" baseline="0" dirty="0">
              <a:ln>
                <a:noFill/>
              </a:ln>
              <a:solidFill>
                <a:schemeClr val="bg1"/>
              </a:solidFill>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err="1">
                <a:ln>
                  <a:noFill/>
                </a:ln>
                <a:solidFill>
                  <a:schemeClr val="bg1"/>
                </a:solidFill>
                <a:effectLst/>
                <a:latin typeface="Arial" panose="020B0604020202020204" pitchFamily="34" charset="0"/>
              </a:rPr>
              <a:t>Dokumentálás</a:t>
            </a:r>
            <a:endParaRPr kumimoji="0" lang="en-US" altLang="en-US" sz="2500" b="0" i="0" u="none" strike="noStrike" cap="none" normalizeH="0" baseline="0" dirty="0">
              <a:ln>
                <a:noFill/>
              </a:ln>
              <a:solidFill>
                <a:schemeClr val="bg1"/>
              </a:solidFill>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en-US" altLang="en-US" sz="2500" dirty="0">
              <a:solidFill>
                <a:schemeClr val="bg1"/>
              </a:solidFill>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2500" dirty="0" err="1">
                <a:solidFill>
                  <a:schemeClr val="bg1"/>
                </a:solidFill>
                <a:latin typeface="Arial" panose="020B0604020202020204" pitchFamily="34" charset="0"/>
              </a:rPr>
              <a:t>Munkaórák</a:t>
            </a:r>
            <a:r>
              <a:rPr lang="en-US" altLang="en-US" sz="2500" dirty="0">
                <a:solidFill>
                  <a:schemeClr val="bg1"/>
                </a:solidFill>
                <a:latin typeface="Arial" panose="020B0604020202020204" pitchFamily="34" charset="0"/>
              </a:rPr>
              <a:t> </a:t>
            </a:r>
            <a:r>
              <a:rPr lang="en-US" altLang="en-US" sz="2500" dirty="0" err="1">
                <a:solidFill>
                  <a:schemeClr val="bg1"/>
                </a:solidFill>
                <a:latin typeface="Arial" panose="020B0604020202020204" pitchFamily="34" charset="0"/>
              </a:rPr>
              <a:t>logolása</a:t>
            </a:r>
            <a:endParaRPr lang="en-US" altLang="en-US" sz="2500" dirty="0">
              <a:solidFill>
                <a:schemeClr val="bg1"/>
              </a:solidFill>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p:txBody>
      </p:sp>
      <p:sp>
        <p:nvSpPr>
          <p:cNvPr id="46" name="Rectangle 45">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2C5BAEAF-03D0-47EB-E55E-58D41F3BB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373" y="0"/>
            <a:ext cx="4483244" cy="6858000"/>
          </a:xfrm>
          <a:prstGeom prst="rect">
            <a:avLst/>
          </a:prstGeom>
        </p:spPr>
      </p:pic>
    </p:spTree>
    <p:extLst>
      <p:ext uri="{BB962C8B-B14F-4D97-AF65-F5344CB8AC3E}">
        <p14:creationId xmlns:p14="http://schemas.microsoft.com/office/powerpoint/2010/main" val="792420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a:extLst>
              <a:ext uri="{FF2B5EF4-FFF2-40B4-BE49-F238E27FC236}">
                <a16:creationId xmlns:a16="http://schemas.microsoft.com/office/drawing/2014/main" id="{F03116D9-B209-F8B1-7E55-68807035A1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49" r="-1" b="3536"/>
          <a:stretch>
            <a:fillRect/>
          </a:stretch>
        </p:blipFill>
        <p:spPr bwMode="auto">
          <a:xfrm>
            <a:off x="11718" y="163861"/>
            <a:ext cx="8934262" cy="3409807"/>
          </a:xfrm>
          <a:prstGeom prst="rect">
            <a:avLst/>
          </a:prstGeom>
          <a:noFill/>
          <a:extLst>
            <a:ext uri="{909E8E84-426E-40DD-AFC4-6F175D3DCCD1}">
              <a14:hiddenFill xmlns:a14="http://schemas.microsoft.com/office/drawing/2010/main">
                <a:solidFill>
                  <a:srgbClr val="FFFFFF"/>
                </a:solidFill>
              </a14:hiddenFill>
            </a:ext>
          </a:extLst>
        </p:spPr>
      </p:pic>
      <p:grpSp>
        <p:nvGrpSpPr>
          <p:cNvPr id="51" name="Group 50">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52" name="Freeform: Shape 5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55" name="Freeform: Shape 5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804672" y="4551037"/>
            <a:ext cx="5021782" cy="1509931"/>
          </a:xfrm>
        </p:spPr>
        <p:txBody>
          <a:bodyPr>
            <a:normAutofit/>
          </a:bodyPr>
          <a:lstStyle/>
          <a:p>
            <a:r>
              <a:rPr lang="en-US" sz="8000" u="sng" dirty="0">
                <a:solidFill>
                  <a:schemeClr val="bg1"/>
                </a:solidFill>
                <a:highlight>
                  <a:srgbClr val="000000"/>
                </a:highlight>
                <a:latin typeface="Agency FB" panose="020B0503020202020204" pitchFamily="34" charset="0"/>
              </a:rPr>
              <a:t>_</a:t>
            </a:r>
            <a:r>
              <a:rPr lang="hu-HU" sz="8000" u="sng" dirty="0">
                <a:solidFill>
                  <a:schemeClr val="bg1"/>
                </a:solidFill>
                <a:highlight>
                  <a:srgbClr val="000000"/>
                </a:highlight>
                <a:latin typeface="Agency FB" panose="020B0503020202020204" pitchFamily="34" charset="0"/>
              </a:rPr>
              <a:t>Git</a:t>
            </a:r>
            <a:r>
              <a:rPr lang="en-US" sz="8000" u="sng" dirty="0">
                <a:solidFill>
                  <a:schemeClr val="bg1"/>
                </a:solidFill>
                <a:highlight>
                  <a:srgbClr val="000000"/>
                </a:highlight>
                <a:latin typeface="Agency FB" panose="020B0503020202020204" pitchFamily="34" charset="0"/>
              </a:rPr>
              <a:t>_</a:t>
            </a: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6231256" y="4796490"/>
            <a:ext cx="4926411" cy="21747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lang="hu-HU" sz="3000" dirty="0">
                <a:solidFill>
                  <a:schemeClr val="tx2"/>
                </a:solidFill>
                <a:latin typeface="+mj-lt"/>
              </a:rPr>
              <a:t>Verziókezelő rendszer</a:t>
            </a:r>
            <a:endParaRPr kumimoji="0" lang="en-US" altLang="en-US" sz="3000" b="0" i="0" u="none" strike="noStrike" cap="none" normalizeH="0" baseline="0" dirty="0">
              <a:ln>
                <a:noFill/>
              </a:ln>
              <a:solidFill>
                <a:schemeClr val="tx2"/>
              </a:solidFill>
              <a:effectLst/>
              <a:latin typeface="+mj-lt"/>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3000" b="0" i="0" u="none" strike="noStrike" cap="none" normalizeH="0" baseline="0" dirty="0">
              <a:ln>
                <a:noFill/>
              </a:ln>
              <a:solidFill>
                <a:schemeClr val="tx2"/>
              </a:solidFill>
              <a:effectLst/>
              <a:latin typeface="+mj-lt"/>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dirty="0" err="1">
                <a:solidFill>
                  <a:schemeClr val="tx2"/>
                </a:solidFill>
                <a:latin typeface="+mj-lt"/>
              </a:rPr>
              <a:t>Átlátható</a:t>
            </a:r>
            <a:r>
              <a:rPr lang="en-US" altLang="en-US" sz="3000" dirty="0">
                <a:solidFill>
                  <a:schemeClr val="tx2"/>
                </a:solidFill>
                <a:latin typeface="+mj-lt"/>
              </a:rPr>
              <a:t> </a:t>
            </a:r>
            <a:r>
              <a:rPr lang="en-US" altLang="en-US" sz="3000" dirty="0" err="1">
                <a:solidFill>
                  <a:schemeClr val="tx2"/>
                </a:solidFill>
                <a:latin typeface="+mj-lt"/>
              </a:rPr>
              <a:t>fejlesztés</a:t>
            </a:r>
            <a:endParaRPr lang="en-US" altLang="en-US" sz="3000" dirty="0">
              <a:solidFill>
                <a:schemeClr val="tx2"/>
              </a:solidFill>
              <a:latin typeface="+mj-lt"/>
            </a:endParaRPr>
          </a:p>
          <a:p>
            <a:pPr marL="0" marR="0" lvl="0" indent="0" defTabSz="914400" rtl="0" eaLnBrk="0" fontAlgn="base" latinLnBrk="0" hangingPunct="0">
              <a:spcBef>
                <a:spcPct val="0"/>
              </a:spcBef>
              <a:spcAft>
                <a:spcPts val="600"/>
              </a:spcAft>
              <a:buClrTx/>
              <a:buSzTx/>
              <a:buFontTx/>
              <a:buChar char="•"/>
              <a:tabLst/>
            </a:pPr>
            <a:endParaRPr lang="en-US" altLang="en-US" sz="1800" dirty="0">
              <a:solidFill>
                <a:schemeClr val="tx2"/>
              </a:solidFill>
              <a:latin typeface="+mj-lt"/>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mj-lt"/>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mj-lt"/>
            </a:endParaRPr>
          </a:p>
        </p:txBody>
      </p:sp>
      <p:pic>
        <p:nvPicPr>
          <p:cNvPr id="4" name="Kép 3">
            <a:extLst>
              <a:ext uri="{FF2B5EF4-FFF2-40B4-BE49-F238E27FC236}">
                <a16:creationId xmlns:a16="http://schemas.microsoft.com/office/drawing/2014/main" id="{1F0FC364-2DF5-9618-754D-B25A5FB1FD59}"/>
              </a:ext>
            </a:extLst>
          </p:cNvPr>
          <p:cNvPicPr>
            <a:picLocks noChangeAspect="1"/>
          </p:cNvPicPr>
          <p:nvPr/>
        </p:nvPicPr>
        <p:blipFill>
          <a:blip r:embed="rId4"/>
          <a:stretch>
            <a:fillRect/>
          </a:stretch>
        </p:blipFill>
        <p:spPr>
          <a:xfrm>
            <a:off x="9109066" y="163861"/>
            <a:ext cx="2919542" cy="4360106"/>
          </a:xfrm>
          <a:prstGeom prst="rect">
            <a:avLst/>
          </a:prstGeom>
        </p:spPr>
      </p:pic>
    </p:spTree>
    <p:extLst>
      <p:ext uri="{BB962C8B-B14F-4D97-AF65-F5344CB8AC3E}">
        <p14:creationId xmlns:p14="http://schemas.microsoft.com/office/powerpoint/2010/main" val="380002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8" name="Kép 7">
            <a:extLst>
              <a:ext uri="{FF2B5EF4-FFF2-40B4-BE49-F238E27FC236}">
                <a16:creationId xmlns:a16="http://schemas.microsoft.com/office/drawing/2014/main" id="{D0B41FC9-6B6A-4759-75DE-B012F09B09B7}"/>
              </a:ext>
            </a:extLst>
          </p:cNvPr>
          <p:cNvPicPr>
            <a:picLocks noChangeAspect="1"/>
          </p:cNvPicPr>
          <p:nvPr/>
        </p:nvPicPr>
        <p:blipFill>
          <a:blip r:embed="rId4">
            <a:alphaModFix amt="27000"/>
          </a:blip>
          <a:stretch>
            <a:fillRect/>
          </a:stretch>
        </p:blipFill>
        <p:spPr>
          <a:xfrm>
            <a:off x="-3048" y="-2"/>
            <a:ext cx="12195048" cy="6984686"/>
          </a:xfrm>
          <a:prstGeom prst="rect">
            <a:avLst/>
          </a:prstGeom>
          <a:blipFill>
            <a:blip r:embed="rId3">
              <a:alphaModFix amt="27000"/>
            </a:blip>
            <a:stretch>
              <a:fillRect/>
            </a:stretch>
          </a:blipFill>
        </p:spPr>
      </p:pic>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1198181" y="728906"/>
            <a:ext cx="9792471" cy="2057037"/>
          </a:xfrm>
        </p:spPr>
        <p:txBody>
          <a:bodyPr>
            <a:normAutofit/>
          </a:bodyPr>
          <a:lstStyle/>
          <a:p>
            <a:pPr algn="ctr"/>
            <a:r>
              <a:rPr lang="en-US" sz="6000" u="sng" dirty="0">
                <a:solidFill>
                  <a:srgbClr val="FFFFFF"/>
                </a:solidFill>
                <a:highlight>
                  <a:srgbClr val="000000"/>
                </a:highlight>
                <a:latin typeface="Agency FB" panose="020B0503020202020204" pitchFamily="34" charset="0"/>
              </a:rPr>
              <a:t>_</a:t>
            </a:r>
            <a:r>
              <a:rPr lang="hu-HU" sz="6000" u="sng" dirty="0">
                <a:solidFill>
                  <a:srgbClr val="FFFFFF"/>
                </a:solidFill>
                <a:highlight>
                  <a:srgbClr val="000000"/>
                </a:highlight>
                <a:latin typeface="Agency FB" panose="020B0503020202020204" pitchFamily="34" charset="0"/>
              </a:rPr>
              <a:t>Tesztelés</a:t>
            </a:r>
            <a:r>
              <a:rPr lang="en-US" sz="6000" u="sng" dirty="0">
                <a:solidFill>
                  <a:srgbClr val="FFFFFF"/>
                </a:solidFill>
                <a:highlight>
                  <a:srgbClr val="000000"/>
                </a:highlight>
                <a:latin typeface="Agency FB" panose="020B0503020202020204" pitchFamily="34" charset="0"/>
              </a:rPr>
              <a:t>_</a:t>
            </a: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1198181" y="3190009"/>
            <a:ext cx="9792471" cy="293907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lgn="ctr" eaLnBrk="0" fontAlgn="base" hangingPunct="0">
              <a:spcBef>
                <a:spcPct val="0"/>
              </a:spcBef>
              <a:spcAft>
                <a:spcPts val="600"/>
              </a:spcAft>
              <a:buNone/>
            </a:pPr>
            <a:r>
              <a:rPr lang="hu-HU" sz="3000" b="1" kern="100" dirty="0">
                <a:ln>
                  <a:solidFill>
                    <a:srgbClr val="C00000"/>
                  </a:solidFill>
                </a:ln>
                <a:solidFill>
                  <a:schemeClr val="bg1"/>
                </a:solidFill>
                <a:effectLst/>
                <a:highlight>
                  <a:srgbClr val="FF0000"/>
                </a:highlight>
                <a:latin typeface="+mj-lt"/>
                <a:ea typeface="Times New Roman" panose="02020603050405020304" pitchFamily="18" charset="0"/>
                <a:cs typeface="Times New Roman" panose="02020603050405020304" pitchFamily="18" charset="0"/>
              </a:rPr>
              <a:t>A hálózat tesztelése biztosítja, hogy a rendszer </a:t>
            </a:r>
            <a:r>
              <a:rPr lang="hu-HU" sz="3000" b="1" i="1" kern="100" dirty="0">
                <a:ln>
                  <a:solidFill>
                    <a:srgbClr val="C00000"/>
                  </a:solidFill>
                </a:ln>
                <a:solidFill>
                  <a:schemeClr val="bg1"/>
                </a:solidFill>
                <a:effectLst/>
                <a:highlight>
                  <a:srgbClr val="FF0000"/>
                </a:highlight>
                <a:latin typeface="+mj-lt"/>
                <a:ea typeface="Times New Roman" panose="02020603050405020304" pitchFamily="18" charset="0"/>
                <a:cs typeface="Times New Roman" panose="02020603050405020304" pitchFamily="18" charset="0"/>
              </a:rPr>
              <a:t>stabilan</a:t>
            </a:r>
            <a:r>
              <a:rPr lang="hu-HU" sz="3000" b="1" kern="100" dirty="0">
                <a:ln>
                  <a:solidFill>
                    <a:srgbClr val="C00000"/>
                  </a:solidFill>
                </a:ln>
                <a:solidFill>
                  <a:schemeClr val="bg1"/>
                </a:solidFill>
                <a:effectLst/>
                <a:highlight>
                  <a:srgbClr val="FF0000"/>
                </a:highlight>
                <a:latin typeface="+mj-lt"/>
                <a:ea typeface="Times New Roman" panose="02020603050405020304" pitchFamily="18" charset="0"/>
                <a:cs typeface="Times New Roman" panose="02020603050405020304" pitchFamily="18" charset="0"/>
              </a:rPr>
              <a:t>, </a:t>
            </a:r>
            <a:r>
              <a:rPr lang="hu-HU" sz="3000" b="1" i="1" kern="100" dirty="0">
                <a:ln>
                  <a:solidFill>
                    <a:srgbClr val="C00000"/>
                  </a:solidFill>
                </a:ln>
                <a:solidFill>
                  <a:schemeClr val="bg1"/>
                </a:solidFill>
                <a:effectLst/>
                <a:highlight>
                  <a:srgbClr val="FF0000"/>
                </a:highlight>
                <a:latin typeface="+mj-lt"/>
                <a:ea typeface="Times New Roman" panose="02020603050405020304" pitchFamily="18" charset="0"/>
                <a:cs typeface="Times New Roman" panose="02020603050405020304" pitchFamily="18" charset="0"/>
              </a:rPr>
              <a:t>gyorsan</a:t>
            </a:r>
            <a:r>
              <a:rPr lang="hu-HU" sz="3000" b="1" kern="100" dirty="0">
                <a:ln>
                  <a:solidFill>
                    <a:srgbClr val="C00000"/>
                  </a:solidFill>
                </a:ln>
                <a:solidFill>
                  <a:schemeClr val="bg1"/>
                </a:solidFill>
                <a:effectLst/>
                <a:highlight>
                  <a:srgbClr val="FF0000"/>
                </a:highlight>
                <a:latin typeface="+mj-lt"/>
                <a:ea typeface="Times New Roman" panose="02020603050405020304" pitchFamily="18" charset="0"/>
                <a:cs typeface="Times New Roman" panose="02020603050405020304" pitchFamily="18" charset="0"/>
              </a:rPr>
              <a:t> és </a:t>
            </a:r>
            <a:r>
              <a:rPr lang="hu-HU" sz="3000" b="1" i="1" kern="100" dirty="0">
                <a:ln>
                  <a:solidFill>
                    <a:srgbClr val="C00000"/>
                  </a:solidFill>
                </a:ln>
                <a:solidFill>
                  <a:schemeClr val="bg1"/>
                </a:solidFill>
                <a:effectLst/>
                <a:highlight>
                  <a:srgbClr val="FF0000"/>
                </a:highlight>
                <a:latin typeface="+mj-lt"/>
                <a:ea typeface="Times New Roman" panose="02020603050405020304" pitchFamily="18" charset="0"/>
                <a:cs typeface="Times New Roman" panose="02020603050405020304" pitchFamily="18" charset="0"/>
              </a:rPr>
              <a:t>biztonságosan</a:t>
            </a:r>
            <a:r>
              <a:rPr lang="hu-HU" sz="3000" b="1" kern="100" dirty="0">
                <a:ln>
                  <a:solidFill>
                    <a:srgbClr val="C00000"/>
                  </a:solidFill>
                </a:ln>
                <a:solidFill>
                  <a:schemeClr val="bg1"/>
                </a:solidFill>
                <a:effectLst/>
                <a:highlight>
                  <a:srgbClr val="FF0000"/>
                </a:highlight>
                <a:latin typeface="+mj-lt"/>
                <a:ea typeface="Times New Roman" panose="02020603050405020304" pitchFamily="18" charset="0"/>
                <a:cs typeface="Times New Roman" panose="02020603050405020304" pitchFamily="18" charset="0"/>
              </a:rPr>
              <a:t> működjön a mindennapi használat során. </a:t>
            </a:r>
            <a:endParaRPr kumimoji="0" lang="en-US" altLang="en-US" sz="3000" b="1" i="0" u="none" strike="noStrike" cap="none" normalizeH="0" baseline="0" dirty="0">
              <a:ln>
                <a:solidFill>
                  <a:srgbClr val="C00000"/>
                </a:solidFill>
              </a:ln>
              <a:solidFill>
                <a:schemeClr val="bg1"/>
              </a:solidFill>
              <a:effectLst/>
              <a:highlight>
                <a:srgbClr val="FF0000"/>
              </a:highlight>
              <a:latin typeface="+mj-lt"/>
            </a:endParaRPr>
          </a:p>
        </p:txBody>
      </p:sp>
    </p:spTree>
    <p:extLst>
      <p:ext uri="{BB962C8B-B14F-4D97-AF65-F5344CB8AC3E}">
        <p14:creationId xmlns:p14="http://schemas.microsoft.com/office/powerpoint/2010/main" val="1634274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838200" y="481436"/>
            <a:ext cx="10515600" cy="1004594"/>
          </a:xfrm>
        </p:spPr>
        <p:txBody>
          <a:bodyPr>
            <a:normAutofit/>
          </a:bodyPr>
          <a:lstStyle/>
          <a:p>
            <a:pPr algn="ctr"/>
            <a:r>
              <a:rPr lang="hu-HU" sz="6000" dirty="0">
                <a:solidFill>
                  <a:srgbClr val="FFFFFF"/>
                </a:solidFill>
                <a:latin typeface="Agency FB" panose="020B0503020202020204" pitchFamily="34" charset="0"/>
              </a:rPr>
              <a:t>D</a:t>
            </a:r>
            <a:r>
              <a:rPr lang="en-US" sz="6000" dirty="0" err="1">
                <a:solidFill>
                  <a:srgbClr val="FFFFFF"/>
                </a:solidFill>
                <a:latin typeface="Agency FB" panose="020B0503020202020204" pitchFamily="34" charset="0"/>
              </a:rPr>
              <a:t>iagram</a:t>
            </a:r>
            <a:endParaRPr lang="en-US" sz="6000" dirty="0">
              <a:solidFill>
                <a:srgbClr val="FFFFFF"/>
              </a:solidFill>
              <a:latin typeface="Agency FB" panose="020B0503020202020204" pitchFamily="34" charset="0"/>
            </a:endParaRPr>
          </a:p>
        </p:txBody>
      </p:sp>
      <p:sp>
        <p:nvSpPr>
          <p:cNvPr id="44" name="Rectangle: Rounded Corners 4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rtalom helye 11">
            <a:extLst>
              <a:ext uri="{FF2B5EF4-FFF2-40B4-BE49-F238E27FC236}">
                <a16:creationId xmlns:a16="http://schemas.microsoft.com/office/drawing/2014/main" id="{52841FBD-BA92-F1D1-81E1-0F5F6AA84DFB}"/>
              </a:ext>
            </a:extLst>
          </p:cNvPr>
          <p:cNvGraphicFramePr>
            <a:graphicFrameLocks noGrp="1"/>
          </p:cNvGraphicFramePr>
          <p:nvPr>
            <p:ph idx="1"/>
            <p:extLst>
              <p:ext uri="{D42A27DB-BD31-4B8C-83A1-F6EECF244321}">
                <p14:modId xmlns:p14="http://schemas.microsoft.com/office/powerpoint/2010/main" val="3417643546"/>
              </p:ext>
            </p:extLst>
          </p:nvPr>
        </p:nvGraphicFramePr>
        <p:xfrm>
          <a:off x="838200" y="1800911"/>
          <a:ext cx="10515600"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3" name="Szövegdoboz 2">
            <a:extLst>
              <a:ext uri="{FF2B5EF4-FFF2-40B4-BE49-F238E27FC236}">
                <a16:creationId xmlns:a16="http://schemas.microsoft.com/office/drawing/2014/main" id="{5AC3A589-CCE3-57FB-DB78-97186BAF8117}"/>
              </a:ext>
            </a:extLst>
          </p:cNvPr>
          <p:cNvSpPr txBox="1"/>
          <p:nvPr/>
        </p:nvSpPr>
        <p:spPr>
          <a:xfrm>
            <a:off x="4021393" y="3883741"/>
            <a:ext cx="1209369" cy="400110"/>
          </a:xfrm>
          <a:prstGeom prst="rect">
            <a:avLst/>
          </a:prstGeom>
          <a:noFill/>
        </p:spPr>
        <p:txBody>
          <a:bodyPr wrap="square" rtlCol="0">
            <a:spAutoFit/>
          </a:bodyPr>
          <a:lstStyle/>
          <a:p>
            <a:r>
              <a:rPr lang="hu-HU" sz="2000" dirty="0">
                <a:solidFill>
                  <a:schemeClr val="bg1"/>
                </a:solidFill>
                <a:highlight>
                  <a:srgbClr val="000000"/>
                </a:highlight>
              </a:rPr>
              <a:t>47 óra</a:t>
            </a:r>
          </a:p>
        </p:txBody>
      </p:sp>
      <p:sp>
        <p:nvSpPr>
          <p:cNvPr id="5" name="Szövegdoboz 4">
            <a:extLst>
              <a:ext uri="{FF2B5EF4-FFF2-40B4-BE49-F238E27FC236}">
                <a16:creationId xmlns:a16="http://schemas.microsoft.com/office/drawing/2014/main" id="{49D05710-2F9B-E58B-C772-9BF73D194B44}"/>
              </a:ext>
            </a:extLst>
          </p:cNvPr>
          <p:cNvSpPr txBox="1"/>
          <p:nvPr/>
        </p:nvSpPr>
        <p:spPr>
          <a:xfrm>
            <a:off x="5516504" y="4682301"/>
            <a:ext cx="6096000" cy="400110"/>
          </a:xfrm>
          <a:prstGeom prst="rect">
            <a:avLst/>
          </a:prstGeom>
          <a:noFill/>
        </p:spPr>
        <p:txBody>
          <a:bodyPr wrap="square">
            <a:spAutoFit/>
          </a:bodyPr>
          <a:lstStyle/>
          <a:p>
            <a:r>
              <a:rPr lang="hu-HU" sz="2000" dirty="0">
                <a:solidFill>
                  <a:schemeClr val="bg1"/>
                </a:solidFill>
                <a:highlight>
                  <a:srgbClr val="000000"/>
                </a:highlight>
              </a:rPr>
              <a:t>38 óra</a:t>
            </a:r>
          </a:p>
        </p:txBody>
      </p:sp>
      <p:sp>
        <p:nvSpPr>
          <p:cNvPr id="7" name="Szövegdoboz 6">
            <a:extLst>
              <a:ext uri="{FF2B5EF4-FFF2-40B4-BE49-F238E27FC236}">
                <a16:creationId xmlns:a16="http://schemas.microsoft.com/office/drawing/2014/main" id="{E1358A3F-1EC4-864A-69E7-CD377CECDBAC}"/>
              </a:ext>
            </a:extLst>
          </p:cNvPr>
          <p:cNvSpPr txBox="1"/>
          <p:nvPr/>
        </p:nvSpPr>
        <p:spPr>
          <a:xfrm>
            <a:off x="5387152" y="3244334"/>
            <a:ext cx="6225352" cy="400110"/>
          </a:xfrm>
          <a:prstGeom prst="rect">
            <a:avLst/>
          </a:prstGeom>
          <a:noFill/>
        </p:spPr>
        <p:txBody>
          <a:bodyPr wrap="square">
            <a:spAutoFit/>
          </a:bodyPr>
          <a:lstStyle/>
          <a:p>
            <a:r>
              <a:rPr lang="hu-HU" sz="2000" dirty="0">
                <a:solidFill>
                  <a:schemeClr val="bg1"/>
                </a:solidFill>
                <a:highlight>
                  <a:srgbClr val="000000"/>
                </a:highlight>
              </a:rPr>
              <a:t>21 óra</a:t>
            </a:r>
          </a:p>
        </p:txBody>
      </p:sp>
    </p:spTree>
    <p:extLst>
      <p:ext uri="{BB962C8B-B14F-4D97-AF65-F5344CB8AC3E}">
        <p14:creationId xmlns:p14="http://schemas.microsoft.com/office/powerpoint/2010/main" val="626083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6E0E22-3AC4-87B3-2FF8-60E10674E646}"/>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computer network diagram with many different colored squares&#10;&#10;AI-generated content may be incorrect.">
            <a:extLst>
              <a:ext uri="{FF2B5EF4-FFF2-40B4-BE49-F238E27FC236}">
                <a16:creationId xmlns:a16="http://schemas.microsoft.com/office/drawing/2014/main" id="{571F6F19-693E-11D8-7487-DCE8C563E78C}"/>
              </a:ext>
            </a:extLst>
          </p:cNvPr>
          <p:cNvPicPr>
            <a:picLocks noChangeAspect="1"/>
          </p:cNvPicPr>
          <p:nvPr/>
        </p:nvPicPr>
        <p:blipFill>
          <a:blip r:embed="rId3">
            <a:alphaModFix amt="60000"/>
            <a:extLst>
              <a:ext uri="{28A0092B-C50C-407E-A947-70E740481C1C}">
                <a14:useLocalDpi xmlns:a14="http://schemas.microsoft.com/office/drawing/2010/main" val="0"/>
              </a:ext>
            </a:extLst>
          </a:blip>
          <a:srcRect t="13015" b="2411"/>
          <a:stretch>
            <a:fillRect/>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id="{CF76C238-80E1-EA88-A81A-E41DFBBC6A74}"/>
              </a:ext>
            </a:extLst>
          </p:cNvPr>
          <p:cNvSpPr>
            <a:spLocks noGrp="1"/>
          </p:cNvSpPr>
          <p:nvPr>
            <p:ph type="title"/>
          </p:nvPr>
        </p:nvSpPr>
        <p:spPr>
          <a:xfrm>
            <a:off x="838200" y="525195"/>
            <a:ext cx="10165218" cy="1947841"/>
          </a:xfrm>
        </p:spPr>
        <p:txBody>
          <a:bodyPr anchor="b">
            <a:normAutofit/>
          </a:bodyPr>
          <a:lstStyle/>
          <a:p>
            <a:pPr algn="ctr"/>
            <a:r>
              <a:rPr lang="en-US" sz="6000" u="sng" dirty="0">
                <a:solidFill>
                  <a:srgbClr val="FFFFFF"/>
                </a:solidFill>
                <a:highlight>
                  <a:srgbClr val="000000"/>
                </a:highlight>
                <a:latin typeface="Agency FB" panose="020B0503020202020204" pitchFamily="34" charset="0"/>
              </a:rPr>
              <a:t>_</a:t>
            </a:r>
            <a:r>
              <a:rPr lang="en-US" sz="6000" u="sng" dirty="0" err="1">
                <a:solidFill>
                  <a:srgbClr val="FFFFFF"/>
                </a:solidFill>
                <a:highlight>
                  <a:srgbClr val="000000"/>
                </a:highlight>
                <a:latin typeface="Agency FB" panose="020B0503020202020204" pitchFamily="34" charset="0"/>
              </a:rPr>
              <a:t>Összegzés</a:t>
            </a:r>
            <a:r>
              <a:rPr lang="en-US" sz="6000" u="sng" dirty="0">
                <a:solidFill>
                  <a:srgbClr val="FFFFFF"/>
                </a:solidFill>
                <a:highlight>
                  <a:srgbClr val="000000"/>
                </a:highlight>
                <a:latin typeface="Agency FB" panose="020B0503020202020204" pitchFamily="34" charset="0"/>
              </a:rPr>
              <a:t>_</a:t>
            </a:r>
          </a:p>
        </p:txBody>
      </p:sp>
      <p:graphicFrame>
        <p:nvGraphicFramePr>
          <p:cNvPr id="61" name="Rectangle 1">
            <a:extLst>
              <a:ext uri="{FF2B5EF4-FFF2-40B4-BE49-F238E27FC236}">
                <a16:creationId xmlns:a16="http://schemas.microsoft.com/office/drawing/2014/main" id="{4A845382-0252-6F60-C2FC-4E12204CB1C7}"/>
              </a:ext>
            </a:extLst>
          </p:cNvPr>
          <p:cNvGraphicFramePr>
            <a:graphicFrameLocks noGrp="1"/>
          </p:cNvGraphicFramePr>
          <p:nvPr>
            <p:ph idx="1"/>
            <p:extLst>
              <p:ext uri="{D42A27DB-BD31-4B8C-83A1-F6EECF244321}">
                <p14:modId xmlns:p14="http://schemas.microsoft.com/office/powerpoint/2010/main" val="1933865207"/>
              </p:ext>
            </p:extLst>
          </p:nvPr>
        </p:nvGraphicFramePr>
        <p:xfrm>
          <a:off x="838200" y="3526300"/>
          <a:ext cx="10165218" cy="25884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36888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11B1A8F4-8645-3C7A-9B13-E121A2FEFCD1}"/>
              </a:ext>
            </a:extLst>
          </p:cNvPr>
          <p:cNvSpPr>
            <a:spLocks noGrp="1"/>
          </p:cNvSpPr>
          <p:nvPr>
            <p:ph type="subTitle" idx="1"/>
          </p:nvPr>
        </p:nvSpPr>
        <p:spPr>
          <a:xfrm>
            <a:off x="2629381" y="3569185"/>
            <a:ext cx="6930189" cy="938463"/>
          </a:xfrm>
        </p:spPr>
        <p:txBody>
          <a:bodyPr>
            <a:normAutofit/>
          </a:bodyPr>
          <a:lstStyle/>
          <a:p>
            <a:r>
              <a:rPr lang="en-US" dirty="0">
                <a:solidFill>
                  <a:srgbClr val="FFFFFF"/>
                </a:solidFill>
                <a:sym typeface="Wingdings" panose="05000000000000000000" pitchFamily="2" charset="2"/>
              </a:rPr>
              <a:t> </a:t>
            </a:r>
            <a:endParaRPr lang="en-US" dirty="0">
              <a:solidFill>
                <a:srgbClr val="FFFFFF"/>
              </a:solidFill>
            </a:endParaRPr>
          </a:p>
        </p:txBody>
      </p:sp>
      <p:sp>
        <p:nvSpPr>
          <p:cNvPr id="23"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B72AA65-C0AB-55A1-1C96-4A38D336E5C3}"/>
              </a:ext>
            </a:extLst>
          </p:cNvPr>
          <p:cNvSpPr/>
          <p:nvPr/>
        </p:nvSpPr>
        <p:spPr>
          <a:xfrm>
            <a:off x="1715713" y="2505670"/>
            <a:ext cx="8757526" cy="923330"/>
          </a:xfrm>
          <a:prstGeom prst="rect">
            <a:avLst/>
          </a:prstGeom>
          <a:noFill/>
        </p:spPr>
        <p:txBody>
          <a:bodyPr wrap="none" lIns="91440" tIns="45720" rIns="91440" bIns="45720">
            <a:spAutoFit/>
          </a:bodyPr>
          <a:lstStyle/>
          <a:p>
            <a:pPr algn="ct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rPr>
              <a:t>Köszönjük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rPr>
              <a:t> a </a:t>
            </a:r>
            <a:r>
              <a:rPr lang="en-US" sz="5400" b="0" cap="none" spc="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rPr>
              <a:t>figyelmet</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rPr>
              <a:t>!</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44969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514f17d-86bb-40e8-9bc3-2d5486de0b0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um" ma:contentTypeID="0x0101006BFBCA8FB8D4D24FB8AD7F76B6F91B2F" ma:contentTypeVersion="15" ma:contentTypeDescription="Új dokumentum létrehozása." ma:contentTypeScope="" ma:versionID="78040f15a0a4d741a46ab2879b410487">
  <xsd:schema xmlns:xsd="http://www.w3.org/2001/XMLSchema" xmlns:xs="http://www.w3.org/2001/XMLSchema" xmlns:p="http://schemas.microsoft.com/office/2006/metadata/properties" xmlns:ns3="e514f17d-86bb-40e8-9bc3-2d5486de0b0d" xmlns:ns4="4298f91c-8d36-42a2-b345-2c6f9f9d3782" targetNamespace="http://schemas.microsoft.com/office/2006/metadata/properties" ma:root="true" ma:fieldsID="779593d9b75da8fc10c25fb2d89f7945" ns3:_="" ns4:_="">
    <xsd:import namespace="e514f17d-86bb-40e8-9bc3-2d5486de0b0d"/>
    <xsd:import namespace="4298f91c-8d36-42a2-b345-2c6f9f9d378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_activity" minOccurs="0"/>
                <xsd:element ref="ns3:MediaServiceOCR" minOccurs="0"/>
                <xsd:element ref="ns3:MediaServiceObjectDetectorVersions" minOccurs="0"/>
                <xsd:element ref="ns3:MediaServiceSystemTags"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14f17d-86bb-40e8-9bc3-2d5486de0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98f91c-8d36-42a2-b345-2c6f9f9d3782" elementFormDefault="qualified">
    <xsd:import namespace="http://schemas.microsoft.com/office/2006/documentManagement/types"/>
    <xsd:import namespace="http://schemas.microsoft.com/office/infopath/2007/PartnerControls"/>
    <xsd:element name="SharedWithUsers" ma:index="10" nillable="true" ma:displayName="Résztvevők"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Megosztva részletekkel" ma:internalName="SharedWithDetails" ma:readOnly="true">
      <xsd:simpleType>
        <xsd:restriction base="dms:Note">
          <xsd:maxLength value="255"/>
        </xsd:restriction>
      </xsd:simpleType>
    </xsd:element>
    <xsd:element name="SharingHintHash" ma:index="12" nillable="true" ma:displayName="Megosztási tipp kivonata"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CF7236-2BDC-4B04-8313-04490D26F10A}">
  <ds:schemaRefs>
    <ds:schemaRef ds:uri="http://schemas.microsoft.com/office/2006/documentManagement/types"/>
    <ds:schemaRef ds:uri="4298f91c-8d36-42a2-b345-2c6f9f9d3782"/>
    <ds:schemaRef ds:uri="http://schemas.microsoft.com/office/2006/metadata/properties"/>
    <ds:schemaRef ds:uri="http://purl.org/dc/dcmitype/"/>
    <ds:schemaRef ds:uri="http://purl.org/dc/elements/1.1/"/>
    <ds:schemaRef ds:uri="http://purl.org/dc/terms/"/>
    <ds:schemaRef ds:uri="e514f17d-86bb-40e8-9bc3-2d5486de0b0d"/>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12A0A4D-E01E-4AD7-A311-68ED2078607B}">
  <ds:schemaRefs>
    <ds:schemaRef ds:uri="http://schemas.microsoft.com/sharepoint/v3/contenttype/forms"/>
  </ds:schemaRefs>
</ds:datastoreItem>
</file>

<file path=customXml/itemProps3.xml><?xml version="1.0" encoding="utf-8"?>
<ds:datastoreItem xmlns:ds="http://schemas.openxmlformats.org/officeDocument/2006/customXml" ds:itemID="{16299583-A125-4394-921E-CEF4E02750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14f17d-86bb-40e8-9bc3-2d5486de0b0d"/>
    <ds:schemaRef ds:uri="4298f91c-8d36-42a2-b345-2c6f9f9d37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316</TotalTime>
  <Words>905</Words>
  <Application>Microsoft Office PowerPoint</Application>
  <PresentationFormat>Szélesvásznú</PresentationFormat>
  <Paragraphs>108</Paragraphs>
  <Slides>15</Slides>
  <Notes>13</Notes>
  <HiddenSlides>0</HiddenSlides>
  <MMClips>0</MMClips>
  <ScaleCrop>false</ScaleCrop>
  <HeadingPairs>
    <vt:vector size="6" baseType="variant">
      <vt:variant>
        <vt:lpstr>Használt betűtípusok</vt:lpstr>
      </vt:variant>
      <vt:variant>
        <vt:i4>10</vt:i4>
      </vt:variant>
      <vt:variant>
        <vt:lpstr>Téma</vt:lpstr>
      </vt:variant>
      <vt:variant>
        <vt:i4>1</vt:i4>
      </vt:variant>
      <vt:variant>
        <vt:lpstr>Diacímek</vt:lpstr>
      </vt:variant>
      <vt:variant>
        <vt:i4>15</vt:i4>
      </vt:variant>
    </vt:vector>
  </HeadingPairs>
  <TitlesOfParts>
    <vt:vector size="26" baseType="lpstr">
      <vt:lpstr>Abadi</vt:lpstr>
      <vt:lpstr>Agency FB</vt:lpstr>
      <vt:lpstr>Algerian</vt:lpstr>
      <vt:lpstr>Aptos</vt:lpstr>
      <vt:lpstr>Aptos Display</vt:lpstr>
      <vt:lpstr>Arial</vt:lpstr>
      <vt:lpstr>Berlin Sans FB</vt:lpstr>
      <vt:lpstr>Brush Script MT</vt:lpstr>
      <vt:lpstr>Calibri</vt:lpstr>
      <vt:lpstr>Wingdings</vt:lpstr>
      <vt:lpstr>Office Theme</vt:lpstr>
      <vt:lpstr>Stake kaszinó</vt:lpstr>
      <vt:lpstr>Stake Hálózat Bemutatása</vt:lpstr>
      <vt:lpstr>A Stake csapat</vt:lpstr>
      <vt:lpstr>Áttekintés</vt:lpstr>
      <vt:lpstr>_Budapest_    </vt:lpstr>
      <vt:lpstr>_Sopron_</vt:lpstr>
      <vt:lpstr>_Pécs_</vt:lpstr>
      <vt:lpstr>_Szekszárd_</vt:lpstr>
      <vt:lpstr>Jövőbeli tervek</vt:lpstr>
      <vt:lpstr>Jira dokumentálás</vt:lpstr>
      <vt:lpstr>_Git_</vt:lpstr>
      <vt:lpstr>_Tesztelés_</vt:lpstr>
      <vt:lpstr>Diagram</vt:lpstr>
      <vt:lpstr>_Összegzés_</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Müller János</dc:creator>
  <cp:lastModifiedBy>Opsrac Balii</cp:lastModifiedBy>
  <cp:revision>106</cp:revision>
  <dcterms:created xsi:type="dcterms:W3CDTF">2025-10-09T10:44:59Z</dcterms:created>
  <dcterms:modified xsi:type="dcterms:W3CDTF">2026-04-29T16:09:39Z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0x0101006BFBCA8FB8D4D24FB8AD7F76B6F91B2F</vt:lpwstr>
  </property>
</Properties>
</file>